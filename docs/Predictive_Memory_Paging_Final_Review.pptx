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c84418e-e0a5-8461-1d63-64ca32661f03}">
          <p14:sldIdLst>
            <p14:sldId id="256"/>
          </p14:sldIdLst>
        </p14:section>
        <p14:section name="Problem and approach" id="{854e526e-bd50-1c00-adb6-982d18145b27}">
          <p14:sldIdLst>
            <p14:sldId id="257"/>
            <p14:sldId id="258"/>
          </p14:sldIdLst>
        </p14:section>
        <p14:section name="Design and implementation" id="{4f3e80fb-7672-76f6-07f1-226f5db2acd3}">
          <p14:sldIdLst>
            <p14:sldId id="259"/>
            <p14:sldId id="260"/>
            <p14:sldId id="261"/>
          </p14:sldIdLst>
        </p14:section>
        <p14:section name="Evidence" id="{0509346f-4a80-da2f-f3b5-22c9cd669b27}">
          <p14:sldIdLst>
            <p14:sldId id="262"/>
            <p14:sldId id="263"/>
          </p14:sldIdLst>
        </p14:section>
        <p14:section name="Wrap-up" id="{7181bcb5-84dd-02c0-8b0c-d880ebfb99f5}">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D1A"/>
                </a:solidFill>
                <a:latin typeface="+mn-lt"/>
              </a:defRPr>
            </a:pPr>
            <a:r>
              <a:rPr sz="1300" b="0" i="0" u="none" strike="noStrike">
                <a:solidFill>
                  <a:srgbClr val="1F1D1A"/>
                </a:solidFill>
                <a:latin typeface="+mn-lt"/>
              </a:rPr>
              <a:t>Page faults removed vs LRU (%), mean of 44</a:t>
            </a:r>
          </a:p>
        </c:rich>
      </c:tx>
      <c:layout/>
      <c:overlay val="0"/>
    </c:title>
    <c:autoTitleDeleted val="0"/>
    <c:plotArea>
      <c:layout/>
      <c:barChart>
        <c:barDir val="bar"/>
        <c:grouping val="stacked"/>
        <c:varyColors val="0"/>
        <c:ser>
          <c:idx val="0"/>
          <c:order val="0"/>
          <c:tx>
            <c:strRef>
              <c:f>Sheet1!$B$1</c:f>
              <c:strCache>
                <c:ptCount val="1"/>
                <c:pt idx="0">
                  <c:v>Baselines</c:v>
                </c:pt>
              </c:strCache>
            </c:strRef>
          </c:tx>
          <c:spPr>
            <a:solidFill>
              <a:srgbClr val="9A958C"/>
            </a:solidFill>
            <a:effectLst/>
          </c:spPr>
          <c:invertIfNegative val="0"/>
          <c:dLbls>
            <c:numFmt formatCode="#,##0" sourceLinked="0"/>
            <c:txPr>
              <a:bodyPr/>
              <a:lstStyle/>
              <a:p>
                <a:pPr>
                  <a:defRPr b="0" i="0" strike="noStrike" sz="1100" u="none">
                    <a:solidFill>
                      <a:srgbClr val="1F1D1A"/>
                    </a:solidFill>
                    <a:latin typeface="+mn-lt"/>
                  </a:defRPr>
                </a:pPr>
              </a:p>
            </c:txPr>
            <c:showLegendKey val="0"/>
            <c:showVal val="0"/>
            <c:showCatName val="0"/>
            <c:showSerName val="0"/>
            <c:showPercent val="0"/>
            <c:showBubbleSize val="0"/>
            <c:showLeaderLines val="0"/>
          </c:dLbls>
          <c:cat>
            <c:multiLvlStrRef>
              <c:f>Sheet1!$A$2:$A$5</c:f>
              <c:multiLvlStrCache>
                <c:ptCount val="4"/>
                <c:lvl>
                  <c:pt idx="0">
                    <c:v>Final system  +55.0%</c:v>
                  </c:pt>
                  <c:pt idx="1">
                    <c:v>Readahead  +50.7%</c:v>
                  </c:pt>
                  <c:pt idx="2">
                    <c:v>Original Markov  +7.7%</c:v>
                  </c:pt>
                  <c:pt idx="3">
                    <c:v>ARC  −0.5%</c:v>
                  </c:pt>
                </c:lvl>
              </c:multiLvlStrCache>
            </c:multiLvlStrRef>
          </c:cat>
          <c:val>
            <c:numRef>
              <c:f>Sheet1!$B$2:$B$5</c:f>
              <c:numCache>
                <c:formatCode>General</c:formatCode>
                <c:ptCount val="4"/>
                <c:pt idx="0">
                  <c:v>0</c:v>
                </c:pt>
                <c:pt idx="1">
                  <c:v>50.681029886650705</c:v>
                </c:pt>
                <c:pt idx="2">
                  <c:v>7.703352103719392</c:v>
                </c:pt>
                <c:pt idx="3">
                  <c:v>-0.5107240140423093</c:v>
                </c:pt>
              </c:numCache>
            </c:numRef>
          </c:val>
        </c:ser>
        <c:ser>
          <c:idx val="1"/>
          <c:order val="1"/>
          <c:tx>
            <c:strRef>
              <c:f>Sheet1!$C$1</c:f>
              <c:strCache>
                <c:ptCount val="1"/>
                <c:pt idx="0">
                  <c:v>Final system</c:v>
                </c:pt>
              </c:strCache>
            </c:strRef>
          </c:tx>
          <c:spPr>
            <a:solidFill>
              <a:srgbClr val="C2700A"/>
            </a:solidFill>
            <a:effectLst/>
          </c:spPr>
          <c:invertIfNegative val="0"/>
          <c:dLbls>
            <c:numFmt formatCode="#,##0" sourceLinked="0"/>
            <c:txPr>
              <a:bodyPr/>
              <a:lstStyle/>
              <a:p>
                <a:pPr>
                  <a:defRPr b="0" i="0" strike="noStrike" sz="1100" u="none">
                    <a:solidFill>
                      <a:srgbClr val="1F1D1A"/>
                    </a:solidFill>
                    <a:latin typeface="+mn-lt"/>
                  </a:defRPr>
                </a:pPr>
              </a:p>
            </c:txPr>
            <c:showLegendKey val="0"/>
            <c:showVal val="0"/>
            <c:showCatName val="0"/>
            <c:showSerName val="0"/>
            <c:showPercent val="0"/>
            <c:showBubbleSize val="0"/>
            <c:showLeaderLines val="0"/>
          </c:dLbls>
          <c:cat>
            <c:multiLvlStrRef>
              <c:f>Sheet1!$A$2:$A$5</c:f>
              <c:multiLvlStrCache>
                <c:ptCount val="4"/>
                <c:lvl>
                  <c:pt idx="0">
                    <c:v>Final system  +55.0%</c:v>
                  </c:pt>
                  <c:pt idx="1">
                    <c:v>Readahead  +50.7%</c:v>
                  </c:pt>
                  <c:pt idx="2">
                    <c:v>Original Markov  +7.7%</c:v>
                  </c:pt>
                  <c:pt idx="3">
                    <c:v>ARC  −0.5%</c:v>
                  </c:pt>
                </c:lvl>
              </c:multiLvlStrCache>
            </c:multiLvlStrRef>
          </c:cat>
          <c:val>
            <c:numRef>
              <c:f>Sheet1!$C$2:$C$5</c:f>
              <c:numCache>
                <c:formatCode>General</c:formatCode>
                <c:ptCount val="4"/>
                <c:pt idx="0">
                  <c:v>55.040939045481664</c:v>
                </c:pt>
                <c:pt idx="1">
                  <c:v>0</c:v>
                </c:pt>
                <c:pt idx="2">
                  <c:v>0</c:v>
                </c:pt>
                <c:pt idx="3">
                  <c:v>0</c:v>
                </c:pt>
              </c:numCache>
            </c:numRef>
          </c:val>
        </c:ser>
        <c:dLbls>
          <c:numFmt formatCode="#,##0" sourceLinked="0"/>
          <c:txPr>
            <a:bodyPr/>
            <a:lstStyle/>
            <a:p>
              <a:pPr>
                <a:defRPr b="0" i="0" strike="noStrike" sz="1100" u="none">
                  <a:solidFill>
                    <a:srgbClr val="1F1D1A"/>
                  </a:solidFill>
                  <a:latin typeface="+mn-lt"/>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665E"/>
                </a:solidFill>
                <a:latin typeface="+mn-lt"/>
              </a:defRPr>
            </a:pPr>
            <a:endParaRPr lang="en-US"/>
          </a:p>
        </c:txPr>
        <c:crossAx val="2094734552"/>
        <c:crosses val="autoZero"/>
        <c:auto val="1"/>
        <c:lblAlgn val="ctr"/>
        <c:noMultiLvlLbl val="1"/>
      </c:catAx>
      <c:valAx>
        <c:axId val="2094734552"/>
        <c:scaling>
          <c:orientation val="minMax"/>
          <c:max val="60"/>
          <c:min val="-10"/>
        </c:scaling>
        <c:delete val="0"/>
        <c:axPos val="b"/>
        <c:majorGridlines>
          <c:spPr>
            <a:ln w="9525" cap="flat">
              <a:solidFill>
                <a:srgbClr val="E7E4DE"/>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65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D1A"/>
                </a:solidFill>
                <a:latin typeface="+mn-lt"/>
              </a:defRPr>
            </a:pPr>
            <a:r>
              <a:rPr sz="1300" b="0" i="0" u="none" strike="noStrike">
                <a:solidFill>
                  <a:srgbClr val="1F1D1A"/>
                </a:solidFill>
                <a:latin typeface="+mn-lt"/>
              </a:rPr>
              <a:t>Estimated speed-up vs LRU (1.0 = same)</a:t>
            </a:r>
          </a:p>
        </c:rich>
      </c:tx>
      <c:layout/>
      <c:overlay val="0"/>
    </c:title>
    <c:autoTitleDeleted val="0"/>
    <c:plotArea>
      <c:layout/>
      <c:barChart>
        <c:barDir val="col"/>
        <c:grouping val="clustered"/>
        <c:varyColors val="0"/>
        <c:ser>
          <c:idx val="0"/>
          <c:order val="0"/>
          <c:tx>
            <c:strRef>
              <c:f>Sheet1!$B$1</c:f>
              <c:strCache>
                <c:ptCount val="1"/>
                <c:pt idx="0">
                  <c:v>Original Markov</c:v>
                </c:pt>
              </c:strCache>
            </c:strRef>
          </c:tx>
          <c:spPr>
            <a:solidFill>
              <a:srgbClr val="D6D2CA"/>
            </a:solidFill>
            <a:effectLst/>
          </c:spPr>
          <c:invertIfNegative val="0"/>
          <c:dLbls>
            <c:numFmt formatCode="0.00&quot;×&quot;" sourceLinked="0"/>
            <c:txPr>
              <a:bodyPr/>
              <a:lstStyle/>
              <a:p>
                <a:pPr>
                  <a:defRPr b="0" i="0" strike="noStrike" sz="1100" u="none">
                    <a:solidFill>
                      <a:srgbClr val="1F1D1A"/>
                    </a:solidFill>
                    <a:latin typeface="+mn-lt"/>
                  </a:defRPr>
                </a:pPr>
              </a:p>
            </c:txPr>
            <c:showLegendKey val="0"/>
            <c:showVal val="1"/>
            <c:showCatName val="0"/>
            <c:showSerName val="0"/>
            <c:showPercent val="0"/>
            <c:showBubbleSize val="0"/>
            <c:showLeaderLines val="0"/>
          </c:dLbls>
          <c:cat>
            <c:multiLvlStrRef>
              <c:f>Sheet1!$A$2:$A$3</c:f>
              <c:multiLvlStrCache>
                <c:ptCount val="2"/>
                <c:lvl>
                  <c:pt idx="0">
                    <c:v>NVMe SSD</c:v>
                  </c:pt>
                  <c:pt idx="1">
                    <c:v>Hard disk</c:v>
                  </c:pt>
                </c:lvl>
              </c:multiLvlStrCache>
            </c:multiLvlStrRef>
          </c:cat>
          <c:val>
            <c:numRef>
              <c:f>Sheet1!$B$2:$B$3</c:f>
              <c:numCache>
                <c:formatCode>General</c:formatCode>
                <c:ptCount val="2"/>
                <c:pt idx="0">
                  <c:v>0.9706444277902736</c:v>
                </c:pt>
                <c:pt idx="1">
                  <c:v>0.9293084592333758</c:v>
                </c:pt>
              </c:numCache>
            </c:numRef>
          </c:val>
        </c:ser>
        <c:ser>
          <c:idx val="1"/>
          <c:order val="1"/>
          <c:tx>
            <c:strRef>
              <c:f>Sheet1!$C$1</c:f>
              <c:strCache>
                <c:ptCount val="1"/>
                <c:pt idx="0">
                  <c:v>Readahead</c:v>
                </c:pt>
              </c:strCache>
            </c:strRef>
          </c:tx>
          <c:spPr>
            <a:solidFill>
              <a:srgbClr val="3B3834"/>
            </a:solidFill>
            <a:effectLst/>
          </c:spPr>
          <c:invertIfNegative val="0"/>
          <c:dLbls>
            <c:numFmt formatCode="0.00&quot;×&quot;" sourceLinked="0"/>
            <c:txPr>
              <a:bodyPr/>
              <a:lstStyle/>
              <a:p>
                <a:pPr>
                  <a:defRPr b="0" i="0" strike="noStrike" sz="1100" u="none">
                    <a:solidFill>
                      <a:srgbClr val="1F1D1A"/>
                    </a:solidFill>
                    <a:latin typeface="+mn-lt"/>
                  </a:defRPr>
                </a:pPr>
              </a:p>
            </c:txPr>
            <c:showLegendKey val="0"/>
            <c:showVal val="1"/>
            <c:showCatName val="0"/>
            <c:showSerName val="0"/>
            <c:showPercent val="0"/>
            <c:showBubbleSize val="0"/>
            <c:showLeaderLines val="0"/>
          </c:dLbls>
          <c:cat>
            <c:multiLvlStrRef>
              <c:f>Sheet1!$A$2:$A$3</c:f>
              <c:multiLvlStrCache>
                <c:ptCount val="2"/>
                <c:lvl>
                  <c:pt idx="0">
                    <c:v>NVMe SSD</c:v>
                  </c:pt>
                  <c:pt idx="1">
                    <c:v>Hard disk</c:v>
                  </c:pt>
                </c:lvl>
              </c:multiLvlStrCache>
            </c:multiLvlStrRef>
          </c:cat>
          <c:val>
            <c:numRef>
              <c:f>Sheet1!$C$2:$C$3</c:f>
              <c:numCache>
                <c:formatCode>General</c:formatCode>
                <c:ptCount val="2"/>
                <c:pt idx="0">
                  <c:v>1.439745598637059</c:v>
                </c:pt>
                <c:pt idx="1">
                  <c:v>0.8039641080853781</c:v>
                </c:pt>
              </c:numCache>
            </c:numRef>
          </c:val>
        </c:ser>
        <c:ser>
          <c:idx val="2"/>
          <c:order val="2"/>
          <c:tx>
            <c:strRef>
              <c:f>Sheet1!$D$1</c:f>
              <c:strCache>
                <c:ptCount val="1"/>
                <c:pt idx="0">
                  <c:v>Final system</c:v>
                </c:pt>
              </c:strCache>
            </c:strRef>
          </c:tx>
          <c:spPr>
            <a:solidFill>
              <a:srgbClr val="C2700A"/>
            </a:solidFill>
            <a:effectLst/>
          </c:spPr>
          <c:invertIfNegative val="0"/>
          <c:dLbls>
            <c:numFmt formatCode="0.00&quot;×&quot;" sourceLinked="0"/>
            <c:txPr>
              <a:bodyPr/>
              <a:lstStyle/>
              <a:p>
                <a:pPr>
                  <a:defRPr b="0" i="0" strike="noStrike" sz="1100" u="none">
                    <a:solidFill>
                      <a:srgbClr val="1F1D1A"/>
                    </a:solidFill>
                    <a:latin typeface="+mn-lt"/>
                  </a:defRPr>
                </a:pPr>
              </a:p>
            </c:txPr>
            <c:showLegendKey val="0"/>
            <c:showVal val="1"/>
            <c:showCatName val="0"/>
            <c:showSerName val="0"/>
            <c:showPercent val="0"/>
            <c:showBubbleSize val="0"/>
            <c:showLeaderLines val="0"/>
          </c:dLbls>
          <c:cat>
            <c:multiLvlStrRef>
              <c:f>Sheet1!$A$2:$A$3</c:f>
              <c:multiLvlStrCache>
                <c:ptCount val="2"/>
                <c:lvl>
                  <c:pt idx="0">
                    <c:v>NVMe SSD</c:v>
                  </c:pt>
                  <c:pt idx="1">
                    <c:v>Hard disk</c:v>
                  </c:pt>
                </c:lvl>
              </c:multiLvlStrCache>
            </c:multiLvlStrRef>
          </c:cat>
          <c:val>
            <c:numRef>
              <c:f>Sheet1!$D$2:$D$3</c:f>
              <c:numCache>
                <c:formatCode>General</c:formatCode>
                <c:ptCount val="2"/>
                <c:pt idx="0">
                  <c:v>1.4334369216074163</c:v>
                </c:pt>
                <c:pt idx="1">
                  <c:v>0.7007062147992419</c:v>
                </c:pt>
              </c:numCache>
            </c:numRef>
          </c:val>
        </c:ser>
        <c:dLbls>
          <c:numFmt formatCode="0.00&quot;×&quot;" sourceLinked="0"/>
          <c:txPr>
            <a:bodyPr/>
            <a:lstStyle/>
            <a:p>
              <a:pPr>
                <a:defRPr b="0" i="0" strike="noStrike" sz="1100" u="none">
                  <a:solidFill>
                    <a:srgbClr val="1F1D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65E"/>
                </a:solidFill>
                <a:latin typeface="+mn-lt"/>
              </a:defRPr>
            </a:pPr>
            <a:endParaRPr lang="en-US"/>
          </a:p>
        </c:txPr>
        <c:crossAx val="2094734552"/>
        <c:crosses val="autoZero"/>
        <c:auto val="1"/>
        <c:lblAlgn val="ctr"/>
        <c:noMultiLvlLbl val="1"/>
      </c:catAx>
      <c:valAx>
        <c:axId val="2094734552"/>
        <c:scaling>
          <c:orientation val="minMax"/>
          <c:max val="2"/>
          <c:min val="0"/>
        </c:scaling>
        <c:delete val="0"/>
        <c:axPos val="l"/>
        <c:majorGridlines>
          <c:spPr>
            <a:ln w="9525" cap="flat">
              <a:solidFill>
                <a:srgbClr val="E7E4D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65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B665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in one sentence: we built a simulator of operating-system paging that tests whether predicting future page requests and loading them early (prefetching) reduces page faults, and when it is safe to do so.
Fill in the guide, department, institution and academic year before presenting (amber placeholders).
The graphic: RAM is a small set of page frames; amber squares are pages loaded early by our system.
Transition: first, why page faults matter and why prefetching is risky.
Likely question: "Is this a real operating system?" Answer: no, it is a trace-driven simulator that replays real programs' memory requests; this is standard for comparing policies fairly because every method sees identical input and the optimal policy (OPT) can be 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 page fault makes the program wait for the disk. Classical policies (FIFO, LRU, Clock) only decide what to evict after a fault; even Belady's OPT, the best possible eviction, still pays for each page's first access.
Motivation: predicting and prefetching pages can avoid faults, including first-access faults. The risk: when RAM is full, each prefetch evicts a page, so a wrong guess can create a fault. Our earlier always-prefetch control made some workloads up to 1.5% worse, and readahead alone up to 19.3% worse.
Objectives: read them briefly. Point to the bottom row as the demonstrated outcome (all from our result files): 55.0% fewer faults than LRU on average over 44 configurations, about 1.43 times faster on an SSD model, worse than LRU in only one configuration.
Transition: how existing approaches handle this and what we do differently.
Likely question: "Why is 55% fewer faults not 55% faster?" Prefetching adds disk reads; slide 8 shows the time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top to bottom: classical policies are reactive; OPT is a bound, not a solution; ARC and LRU-2 improve eviction but gave no gain on our traces (ARC averaged −0.5%); Linux readahead helps sequential reading but its worst case was −19.3%; Markov prefetching cannot predict pages it has never seen, so it averaged only +7.7%.
Proposed: readahead covers new pages in runs, delta-Markov covers repeating gap patterns, and a decision engine driven by the measured fault delta limits harm.
Novelty, stated honestly: the components exist in literature; what is ours is (1) showing which feedback signal works and why confidence and precision fail, (2) obtaining that signal exactly and cheaply with a page-ID-only shadow directory, and (3) evaluating in time, not just faults.
Likely question: "Isn't the shadow directory just the oracle again?" Same idea, but it stores page IDs only, no data, and can be sampled to 1/8 of its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implemented architecture left to right. Input: a recorded list of page numbers from a real program. For each request: the memory engine reports hit or fault and evicts with LRU when full; the predictor learns and proposes candidate pages (readahead window first, then the delta-Markov guess); the decision engine accepts a candidate only if its confidence passes a threshold; accepted pages are loaded through the normal install path, so a bad predictor can slow the system but never corrupt it.
Feedback (amber arrows): a shadow directory replays the same requests without prefetching, storing page IDs only. Every 1,000 requests the controller compares faults: if prefetching saved faults the threshold drops (bolder), if it caused faults the threshold rises.
The time model replays the recorded events on a simulated disk.
Likely question: "Where does the data come from?" Public ML-DPC LoadTraces (cache-level traces of SPEC CPU 2006 and GAP benchmarks), mapped to 4 KB pages; this approximates OS paging, which we state as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trace-driven simulation; every method sees identical requests; memory sized at 1% and 5% of each program's working set; every parameter chosen on the first 25% of each trace (warm-up) and then frozen, so we never tune on test data.
Per request (left): access, learn, every 1,000 requests update the threshold, predict, skip resident candidates, decide.
Decision rule: with a free frame a wrong prefetch evicts nothing, so be generous (≥0.15); with RAM full require confidence ≥ the adaptive threshold.
Feedback rule (the key mechanism): delta rate = (faults the no-prefetch shadow had − faults we had) / 1,000. Above +0.002 prefetching is helping, lower the threshold by 0.1; below −0.002 it is hurting, raise it; in between do nothing (avoids reacting to noise). These values (epoch 1,000, step 0.1) were tuned on warm-up data only.
Predictors: readahead fetches a doubling window when it sees consecutive pages; delta-Markov learns gaps between pages, so a pattern like +1,+3 predicts pages never seen before.
Likely question: "Why not deep learning?" It runs on every memory request; our tables are O(1) and kilobytes. A learned model is fair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technologies actually used are listed. Everything is Python (developed on 3.14, compatible with 3.9+); NumPy and pandas for arrays and tables; matplotlib for figures; pytest for 24 automated tests; standard-library modules for decompression, download and data structures (OrderedDict gives O(1) LRU; heapq for LRU-2 and disk channels; bisect for OPT). Early stages ran on Google Colab; later work locally on Windows with Git and GitHub.
Modules (right): all core modules are complete. Be explicit: prediction-aware eviction was implemented and tested but gave no gain, so it was not adopted; kernel integration is future work, not done.
Key implementation decisions: one install path (safety); predictor and decision engine separated so nine engines can be compared on identical predictions; memory sized as a percentage of each program's working set (with large fixed memory every policy looks the same); settings chosen on warm-up data only.
Likely question: "How long does a run take?" About 1–4 seconds per 200,000-request configuration on a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evidence here is genuine. Left: actual terminal output captured from our laptop: the 24 automated tests pass, then the final system runs on the real leslie3d trace with 21 frames: LRU 15,313 faults, optimal bound 5,881, final system 8,133 (46.9% fewer than LRU), 16,946 prefetches with 45.5% precision, run time 1.2 seconds.
Right: a real browser screenshot of results/report.html, generated by scripts/13_report.py from the result CSV files.
Bottom: a worked example produced by running our classes: a loop of five pages with four frames. LRU faults on every one of 15 requests; with prediction only 5. It also contains a wrong guess (page 6), which wastes a read and evicts a page: exactly the risk the decision engine manages.
If a live demo is allowed: run "python -m pytest -q" and the demo script; both finish in seconds.
Likely question: "Why only 45% precision but 47% fewer faults?" Readahead fetches whole windows; many pages are not used, but the ones that are used remove faults. That extra I/O is why slide 8 measures time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chart: mean share of LRU's page faults removed over 44 configurations (22 real programs × 2 memory sizes). ARC alone −0.5%; original Markov +7.7%; Linux readahead +50.7%; final system +55.0%, the highest. It is worse than LRU in only 1 of 44 configurations (bwaves-s2, 8 frames, −3.3%), versus readahead's worst −19.3%.
Middle chart (time model): on an NVMe SSD that can serve 8 reads at once, the final system is about 1.43 times faster than LRU, the same as readahead (1.44); on a single-channel hard disk every prefetcher is slower than LRU. Say clearly these are model estimates with stated latencies (80 µs SSD read, 5 ms HDD read), not hardware measurements.
Right: testing evidence: 24 automated tests (invariants such as "nothing beats OPT", equivalence checks, pinned numbers), exact reproduction of the original Colab ablation, independent re-implementations.
Objectives: met for correctness, prediction, decision engine, deployable feedback and evaluation; "faster" is achieved only on parallel storage and does not beat readahead in time. That is an honest, reportable finding.
Likely question: "Why is Markov alone not faster despite 35–37% fewer faults on leslie3d and bwaves?" It prefetches only one request ahead, so pages arrive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clearly what is demonstrated from what is future work.
Contributions (left, all demonstrated with results): the feedback-signal finding; the shadow directory as a deployable exact feedback; the readahead + delta-Markov combination with the largest fault reduction; the time model; and a reproducible repository.
Limitations (middle): be upfront. The traces are processor-cache traces treated as pages, so they approximate operating-system paging; the predictor sees every request, which is optimistic; time numbers are from a model; on hard disks prefetching is slower than LRU; in time we only match readahead.
Future scope (right): kernel or OS-trace evaluation; demand priority; a learned-predictor comparison; sampling at real memory sizes. A paper draft exists for a student or regional conference; do not claim acceptance or patentability.
Likely question: "What would you do with six more months?" Measure on real hardware with OS-level traces, and add prefetch-distance control to fix late prefetches.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about 30 seconds: we addressed page faults and the risk that prefetching causes harm; we built a predictor combining readahead and delta-Markov, steered by the measured fault delta, which a page-ID shadow directory provides cheaply and exactly; the system removes 55.0% of LRU's faults on 22 real programs and is about 1.43 times faster on an SSD model, level with readahead; the simulator, final system and evaluation are complete, and hardware or kernel validation is future work.
Then thank the panel and invite questions. The separate viva Q&amp;A file has prepared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949440" cy="18288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68580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2"/>
                </a:solidFill>
              </a:rPr>
              <a:t>Predictive Memory Paging · Final Review</a:t>
            </a:r>
            <a:endParaRPr lang="en-US" sz="10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640080" y="868680"/>
            <a:ext cx="6949440" cy="320040"/>
          </a:xfrm>
          <a:prstGeom prst="rect">
            <a:avLst/>
          </a:prstGeom>
          <a:noFill/>
          <a:ln/>
        </p:spPr>
        <p:txBody>
          <a:bodyPr wrap="square" lIns="0" tIns="0" rIns="0" bIns="0" rtlCol="0" anchor="t"/>
          <a:lstStyle/>
          <a:p>
            <a:pPr indent="0" marL="0">
              <a:buNone/>
            </a:pPr>
            <a:r>
              <a:rPr lang="en-US" sz="1300" b="1" spc="200" kern="0" dirty="0">
                <a:solidFill>
                  <a:schemeClr val="accent5"/>
                </a:solidFill>
                <a:latin typeface="Calibri" pitchFamily="34" charset="0"/>
                <a:ea typeface="Calibri" pitchFamily="34" charset="-122"/>
                <a:cs typeface="Calibri" pitchFamily="34" charset="-120"/>
              </a:rPr>
              <a:t>OPERATING SYSTEMS PROJECT · FINAL REVIEW</a:t>
            </a:r>
            <a:endParaRPr lang="en-US" sz="1300" dirty="0"/>
          </a:p>
        </p:txBody>
      </p:sp>
      <p:sp>
        <p:nvSpPr>
          <p:cNvPr id="3" name="Text 0"/>
          <p:cNvSpPr/>
          <p:nvPr>
            <p:ph idx="100" type="title" hasCustomPrompt="1"/>
          </p:nvPr>
        </p:nvSpPr>
        <p:spPr>
          <a:xfrm>
            <a:off x="640080" y="1417320"/>
            <a:ext cx="6949440" cy="18288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Predictive Memory Paging System with Workload Awareness</a:t>
            </a:r>
            <a:endParaRPr lang="en-US" sz="4000" dirty="0"/>
          </a:p>
        </p:txBody>
      </p:sp>
      <p:sp>
        <p:nvSpPr>
          <p:cNvPr id="4" name="text-2"/>
          <p:cNvSpPr txBox="1"/>
          <p:nvPr/>
        </p:nvSpPr>
        <p:spPr>
          <a:xfrm>
            <a:off x="640080" y="3291840"/>
            <a:ext cx="6766560" cy="914400"/>
          </a:xfrm>
          <a:prstGeom prst="rect">
            <a:avLst/>
          </a:prstGeom>
          <a:noFill/>
          <a:ln/>
        </p:spPr>
        <p:txBody>
          <a:bodyPr wrap="square" lIns="0" tIns="0" rIns="0" bIns="0" rtlCol="0" anchor="t"/>
          <a:lstStyle/>
          <a:p>
            <a:pPr indent="0" marL="0">
              <a:buNone/>
            </a:pPr>
            <a:r>
              <a:rPr lang="en-US" sz="1600" dirty="0">
                <a:solidFill>
                  <a:schemeClr val="accent4"/>
                </a:solidFill>
                <a:latin typeface="Calibri" pitchFamily="34" charset="0"/>
                <a:ea typeface="Calibri" pitchFamily="34" charset="-122"/>
                <a:cs typeface="Calibri" pitchFamily="34" charset="-120"/>
              </a:rPr>
              <a:t>A trace-driven paging simulator that predicts which memory pages a program needs next, prefetches them only when that helps, and is evaluated against seven baselines on 22 real programs.</a:t>
            </a:r>
            <a:endParaRPr lang="en-US" sz="1600" dirty="0"/>
          </a:p>
        </p:txBody>
      </p:sp>
      <p:sp>
        <p:nvSpPr>
          <p:cNvPr id="5" name="text-3"/>
          <p:cNvSpPr txBox="1"/>
          <p:nvPr/>
        </p:nvSpPr>
        <p:spPr>
          <a:xfrm>
            <a:off x="640080" y="4434840"/>
            <a:ext cx="4754880" cy="1005840"/>
          </a:xfrm>
          <a:prstGeom prst="rect">
            <a:avLst/>
          </a:prstGeom>
          <a:noFill/>
          <a:ln/>
        </p:spPr>
        <p:txBody>
          <a:bodyPr wrap="square" lIns="0" tIns="0" rIns="0" bIns="0" rtlCol="0" anchor="t"/>
          <a:lstStyle/>
          <a:p>
            <a:pPr indent="0" marL="0">
              <a:spcAft>
                <a:spcPts val="300"/>
              </a:spcAft>
              <a:buNone/>
            </a:pPr>
            <a:r>
              <a:rPr lang="en-US" sz="1500" b="1" dirty="0">
                <a:solidFill>
                  <a:schemeClr val="bg1"/>
                </a:solidFill>
                <a:latin typeface="Calibri" pitchFamily="34" charset="0"/>
                <a:ea typeface="Calibri" pitchFamily="34" charset="-122"/>
                <a:cs typeface="Calibri" pitchFamily="34" charset="-120"/>
              </a:rPr>
              <a:t>G.K Shreyas Bharadwaj  </a:t>
            </a:r>
            <a:pPr indent="0" marL="0">
              <a:spcAft>
                <a:spcPts val="300"/>
              </a:spcAft>
              <a:buNone/>
            </a:pPr>
            <a:r>
              <a:rPr lang="en-US" sz="1500" dirty="0">
                <a:solidFill>
                  <a:schemeClr val="accent3"/>
                </a:solidFill>
                <a:latin typeface="Calibri" pitchFamily="34" charset="0"/>
                <a:ea typeface="Calibri" pitchFamily="34" charset="-122"/>
                <a:cs typeface="Calibri" pitchFamily="34" charset="-120"/>
              </a:rPr>
              <a:t>24BCE2256</a:t>
            </a:r>
            <a:endParaRPr lang="en-US" sz="1500" dirty="0"/>
          </a:p>
          <a:p>
            <a:pPr indent="0" marL="0">
              <a:spcAft>
                <a:spcPts val="300"/>
              </a:spcAft>
              <a:buNone/>
            </a:pPr>
            <a:r>
              <a:rPr lang="en-US" sz="1500" b="1" dirty="0">
                <a:solidFill>
                  <a:schemeClr val="bg1"/>
                </a:solidFill>
                <a:latin typeface="Calibri" pitchFamily="34" charset="0"/>
                <a:ea typeface="Calibri" pitchFamily="34" charset="-122"/>
                <a:cs typeface="Calibri" pitchFamily="34" charset="-120"/>
              </a:rPr>
              <a:t>Vaastav Bajanthri  </a:t>
            </a:r>
            <a:pPr indent="0" marL="0">
              <a:spcAft>
                <a:spcPts val="300"/>
              </a:spcAft>
              <a:buNone/>
            </a:pPr>
            <a:r>
              <a:rPr lang="en-US" sz="1500" dirty="0">
                <a:solidFill>
                  <a:schemeClr val="accent3"/>
                </a:solidFill>
                <a:latin typeface="Calibri" pitchFamily="34" charset="0"/>
                <a:ea typeface="Calibri" pitchFamily="34" charset="-122"/>
                <a:cs typeface="Calibri" pitchFamily="34" charset="-120"/>
              </a:rPr>
              <a:t>24BCE2223</a:t>
            </a:r>
            <a:endParaRPr lang="en-US" sz="1500" dirty="0"/>
          </a:p>
          <a:p>
            <a:pPr indent="0" marL="0">
              <a:spcAft>
                <a:spcPts val="300"/>
              </a:spcAft>
              <a:buNone/>
            </a:pPr>
            <a:r>
              <a:rPr lang="en-US" sz="1500" b="1" dirty="0">
                <a:solidFill>
                  <a:schemeClr val="bg1"/>
                </a:solidFill>
                <a:latin typeface="Calibri" pitchFamily="34" charset="0"/>
                <a:ea typeface="Calibri" pitchFamily="34" charset="-122"/>
                <a:cs typeface="Calibri" pitchFamily="34" charset="-120"/>
              </a:rPr>
              <a:t>P. Giphy Bershan  </a:t>
            </a:r>
            <a:pPr indent="0" marL="0">
              <a:spcAft>
                <a:spcPts val="300"/>
              </a:spcAft>
              <a:buNone/>
            </a:pPr>
            <a:r>
              <a:rPr lang="en-US" sz="1500" dirty="0">
                <a:solidFill>
                  <a:schemeClr val="accent3"/>
                </a:solidFill>
                <a:latin typeface="Calibri" pitchFamily="34" charset="0"/>
                <a:ea typeface="Calibri" pitchFamily="34" charset="-122"/>
                <a:cs typeface="Calibri" pitchFamily="34" charset="-120"/>
              </a:rPr>
              <a:t>24BCE2201</a:t>
            </a:r>
            <a:endParaRPr lang="en-US" sz="1500" dirty="0"/>
          </a:p>
        </p:txBody>
      </p:sp>
      <p:sp>
        <p:nvSpPr>
          <p:cNvPr id="6" name="text-4"/>
          <p:cNvSpPr txBox="1"/>
          <p:nvPr/>
        </p:nvSpPr>
        <p:spPr>
          <a:xfrm>
            <a:off x="640080" y="5532120"/>
            <a:ext cx="6766560" cy="960120"/>
          </a:xfrm>
          <a:prstGeom prst="rect">
            <a:avLst/>
          </a:prstGeom>
          <a:noFill/>
          <a:ln/>
        </p:spPr>
        <p:txBody>
          <a:bodyPr wrap="square" lIns="0" tIns="0" rIns="0" bIns="0" rtlCol="0" anchor="t"/>
          <a:lstStyle/>
          <a:p>
            <a:pPr indent="0" marL="0">
              <a:spcAft>
                <a:spcPts val="100"/>
              </a:spcAft>
              <a:buNone/>
            </a:pPr>
            <a:r>
              <a:rPr lang="en-US" sz="1200" dirty="0">
                <a:solidFill>
                  <a:schemeClr val="accent3"/>
                </a:solidFill>
                <a:latin typeface="Calibri" pitchFamily="34" charset="0"/>
                <a:ea typeface="Calibri" pitchFamily="34" charset="-122"/>
                <a:cs typeface="Calibri" pitchFamily="34" charset="-120"/>
              </a:rPr>
              <a:t>Guide: </a:t>
            </a:r>
            <a:pPr indent="0" marL="0">
              <a:spcAft>
                <a:spcPts val="100"/>
              </a:spcAft>
              <a:buNone/>
            </a:pPr>
            <a:r>
              <a:rPr lang="en-US" sz="1200" dirty="0">
                <a:solidFill>
                  <a:schemeClr val="accent5"/>
                </a:solidFill>
                <a:latin typeface="Calibri" pitchFamily="34" charset="0"/>
                <a:ea typeface="Calibri" pitchFamily="34" charset="-122"/>
                <a:cs typeface="Calibri" pitchFamily="34" charset="-120"/>
              </a:rPr>
              <a:t>[Guide name]</a:t>
            </a:r>
            <a:endParaRPr lang="en-US" sz="1200" dirty="0"/>
          </a:p>
          <a:p>
            <a:pPr indent="0" marL="0">
              <a:spcAft>
                <a:spcPts val="100"/>
              </a:spcAft>
              <a:buNone/>
            </a:pPr>
            <a:r>
              <a:rPr lang="en-US" sz="1200" dirty="0">
                <a:solidFill>
                  <a:schemeClr val="accent3"/>
                </a:solidFill>
                <a:latin typeface="Calibri" pitchFamily="34" charset="0"/>
                <a:ea typeface="Calibri" pitchFamily="34" charset="-122"/>
                <a:cs typeface="Calibri" pitchFamily="34" charset="-120"/>
              </a:rPr>
              <a:t>Department: </a:t>
            </a:r>
            <a:pPr indent="0" marL="0">
              <a:spcAft>
                <a:spcPts val="100"/>
              </a:spcAft>
              <a:buNone/>
            </a:pPr>
            <a:r>
              <a:rPr lang="en-US" sz="1200" dirty="0">
                <a:solidFill>
                  <a:schemeClr val="accent5"/>
                </a:solidFill>
                <a:latin typeface="Calibri" pitchFamily="34" charset="0"/>
                <a:ea typeface="Calibri" pitchFamily="34" charset="-122"/>
                <a:cs typeface="Calibri" pitchFamily="34" charset="-120"/>
              </a:rPr>
              <a:t>[Department]</a:t>
            </a:r>
            <a:endParaRPr lang="en-US" sz="1200" dirty="0"/>
          </a:p>
          <a:p>
            <a:pPr indent="0" marL="0">
              <a:spcAft>
                <a:spcPts val="100"/>
              </a:spcAft>
              <a:buNone/>
            </a:pPr>
            <a:r>
              <a:rPr lang="en-US" sz="1200" dirty="0">
                <a:solidFill>
                  <a:schemeClr val="accent3"/>
                </a:solidFill>
                <a:latin typeface="Calibri" pitchFamily="34" charset="0"/>
                <a:ea typeface="Calibri" pitchFamily="34" charset="-122"/>
                <a:cs typeface="Calibri" pitchFamily="34" charset="-120"/>
              </a:rPr>
              <a:t>Institution: </a:t>
            </a:r>
            <a:pPr indent="0" marL="0">
              <a:spcAft>
                <a:spcPts val="100"/>
              </a:spcAft>
              <a:buNone/>
            </a:pPr>
            <a:r>
              <a:rPr lang="en-US" sz="1200" dirty="0">
                <a:solidFill>
                  <a:schemeClr val="accent5"/>
                </a:solidFill>
                <a:latin typeface="Calibri" pitchFamily="34" charset="0"/>
                <a:ea typeface="Calibri" pitchFamily="34" charset="-122"/>
                <a:cs typeface="Calibri" pitchFamily="34" charset="-120"/>
              </a:rPr>
              <a:t>[Institution]</a:t>
            </a:r>
            <a:endParaRPr lang="en-US" sz="1200" dirty="0"/>
          </a:p>
          <a:p>
            <a:pPr indent="0" marL="0">
              <a:spcAft>
                <a:spcPts val="100"/>
              </a:spcAft>
              <a:buNone/>
            </a:pPr>
            <a:r>
              <a:rPr lang="en-US" sz="1200" dirty="0">
                <a:solidFill>
                  <a:schemeClr val="accent3"/>
                </a:solidFill>
                <a:latin typeface="Calibri" pitchFamily="34" charset="0"/>
                <a:ea typeface="Calibri" pitchFamily="34" charset="-122"/>
                <a:cs typeface="Calibri" pitchFamily="34" charset="-120"/>
              </a:rPr>
              <a:t>Academic year: </a:t>
            </a:r>
            <a:pPr indent="0" marL="0">
              <a:spcAft>
                <a:spcPts val="100"/>
              </a:spcAft>
              <a:buNone/>
            </a:pPr>
            <a:r>
              <a:rPr lang="en-US" sz="1200" dirty="0">
                <a:solidFill>
                  <a:schemeClr val="accent5"/>
                </a:solidFill>
                <a:latin typeface="Calibri" pitchFamily="34" charset="0"/>
                <a:ea typeface="Calibri" pitchFamily="34" charset="-122"/>
                <a:cs typeface="Calibri" pitchFamily="34" charset="-120"/>
              </a:rPr>
              <a:t>[2026-27]</a:t>
            </a:r>
            <a:endParaRPr lang="en-US" sz="1200" dirty="0"/>
          </a:p>
        </p:txBody>
      </p:sp>
      <p:sp>
        <p:nvSpPr>
          <p:cNvPr id="7" name="frame-5"/>
          <p:cNvSpPr/>
          <p:nvPr/>
        </p:nvSpPr>
        <p:spPr>
          <a:xfrm>
            <a:off x="8229600" y="1325880"/>
            <a:ext cx="475488" cy="475488"/>
          </a:xfrm>
          <a:prstGeom prst="roundRect">
            <a:avLst>
              <a:gd name="adj" fmla="val 11538"/>
            </a:avLst>
          </a:prstGeom>
          <a:solidFill>
            <a:schemeClr val="tx2"/>
          </a:solidFill>
          <a:ln w="9525">
            <a:solidFill>
              <a:schemeClr val="accent2"/>
            </a:solidFill>
            <a:prstDash val="solid"/>
          </a:ln>
        </p:spPr>
      </p:sp>
      <p:sp>
        <p:nvSpPr>
          <p:cNvPr id="8" name="frame-6"/>
          <p:cNvSpPr/>
          <p:nvPr/>
        </p:nvSpPr>
        <p:spPr>
          <a:xfrm>
            <a:off x="8833104" y="1325880"/>
            <a:ext cx="475488" cy="475488"/>
          </a:xfrm>
          <a:prstGeom prst="roundRect">
            <a:avLst>
              <a:gd name="adj" fmla="val 11538"/>
            </a:avLst>
          </a:prstGeom>
          <a:solidFill>
            <a:schemeClr val="tx2"/>
          </a:solidFill>
          <a:ln w="9525">
            <a:solidFill>
              <a:schemeClr val="accent2"/>
            </a:solidFill>
            <a:prstDash val="solid"/>
          </a:ln>
        </p:spPr>
      </p:sp>
      <p:sp>
        <p:nvSpPr>
          <p:cNvPr id="9" name="frame-7"/>
          <p:cNvSpPr/>
          <p:nvPr/>
        </p:nvSpPr>
        <p:spPr>
          <a:xfrm>
            <a:off x="9436608" y="1325880"/>
            <a:ext cx="475488" cy="475488"/>
          </a:xfrm>
          <a:prstGeom prst="roundRect">
            <a:avLst>
              <a:gd name="adj" fmla="val 11538"/>
            </a:avLst>
          </a:prstGeom>
          <a:solidFill>
            <a:schemeClr val="tx2"/>
          </a:solidFill>
          <a:ln w="9525">
            <a:solidFill>
              <a:schemeClr val="accent2"/>
            </a:solidFill>
            <a:prstDash val="solid"/>
          </a:ln>
        </p:spPr>
      </p:sp>
      <p:sp>
        <p:nvSpPr>
          <p:cNvPr id="10" name="frame-8"/>
          <p:cNvSpPr/>
          <p:nvPr/>
        </p:nvSpPr>
        <p:spPr>
          <a:xfrm>
            <a:off x="10040112" y="1325880"/>
            <a:ext cx="475488" cy="475488"/>
          </a:xfrm>
          <a:prstGeom prst="roundRect">
            <a:avLst>
              <a:gd name="adj" fmla="val 11538"/>
            </a:avLst>
          </a:prstGeom>
          <a:solidFill>
            <a:schemeClr val="tx2"/>
          </a:solidFill>
          <a:ln w="9525">
            <a:solidFill>
              <a:schemeClr val="accent2"/>
            </a:solidFill>
            <a:prstDash val="solid"/>
          </a:ln>
        </p:spPr>
      </p:sp>
      <p:sp>
        <p:nvSpPr>
          <p:cNvPr id="11" name="frame-9"/>
          <p:cNvSpPr/>
          <p:nvPr/>
        </p:nvSpPr>
        <p:spPr>
          <a:xfrm>
            <a:off x="10643616" y="1325880"/>
            <a:ext cx="475488" cy="475488"/>
          </a:xfrm>
          <a:prstGeom prst="roundRect">
            <a:avLst>
              <a:gd name="adj" fmla="val 11538"/>
            </a:avLst>
          </a:prstGeom>
          <a:solidFill>
            <a:schemeClr val="accent1"/>
          </a:solidFill>
          <a:ln w="9525">
            <a:solidFill>
              <a:schemeClr val="accent1"/>
            </a:solidFill>
            <a:prstDash val="solid"/>
          </a:ln>
        </p:spPr>
      </p:sp>
      <p:sp>
        <p:nvSpPr>
          <p:cNvPr id="12" name="frame-10"/>
          <p:cNvSpPr/>
          <p:nvPr/>
        </p:nvSpPr>
        <p:spPr>
          <a:xfrm>
            <a:off x="11247120" y="1325880"/>
            <a:ext cx="475488" cy="475488"/>
          </a:xfrm>
          <a:prstGeom prst="roundRect">
            <a:avLst>
              <a:gd name="adj" fmla="val 11538"/>
            </a:avLst>
          </a:prstGeom>
          <a:solidFill>
            <a:schemeClr val="tx2"/>
          </a:solidFill>
          <a:ln w="9525">
            <a:solidFill>
              <a:schemeClr val="accent2"/>
            </a:solidFill>
            <a:prstDash val="solid"/>
          </a:ln>
        </p:spPr>
      </p:sp>
      <p:sp>
        <p:nvSpPr>
          <p:cNvPr id="13" name="frame-11"/>
          <p:cNvSpPr/>
          <p:nvPr/>
        </p:nvSpPr>
        <p:spPr>
          <a:xfrm>
            <a:off x="8229600" y="1929384"/>
            <a:ext cx="475488" cy="475488"/>
          </a:xfrm>
          <a:prstGeom prst="roundRect">
            <a:avLst>
              <a:gd name="adj" fmla="val 11538"/>
            </a:avLst>
          </a:prstGeom>
          <a:solidFill>
            <a:schemeClr val="tx2"/>
          </a:solidFill>
          <a:ln w="9525">
            <a:solidFill>
              <a:schemeClr val="accent2"/>
            </a:solidFill>
            <a:prstDash val="solid"/>
          </a:ln>
        </p:spPr>
      </p:sp>
      <p:sp>
        <p:nvSpPr>
          <p:cNvPr id="14" name="frame-12"/>
          <p:cNvSpPr/>
          <p:nvPr/>
        </p:nvSpPr>
        <p:spPr>
          <a:xfrm>
            <a:off x="8833104" y="1929384"/>
            <a:ext cx="475488" cy="475488"/>
          </a:xfrm>
          <a:prstGeom prst="roundRect">
            <a:avLst>
              <a:gd name="adj" fmla="val 11538"/>
            </a:avLst>
          </a:prstGeom>
          <a:solidFill>
            <a:schemeClr val="accent1"/>
          </a:solidFill>
          <a:ln w="9525">
            <a:solidFill>
              <a:schemeClr val="accent1"/>
            </a:solidFill>
            <a:prstDash val="solid"/>
          </a:ln>
        </p:spPr>
      </p:sp>
      <p:sp>
        <p:nvSpPr>
          <p:cNvPr id="15" name="frame-13"/>
          <p:cNvSpPr/>
          <p:nvPr/>
        </p:nvSpPr>
        <p:spPr>
          <a:xfrm>
            <a:off x="9436608" y="1929384"/>
            <a:ext cx="475488" cy="475488"/>
          </a:xfrm>
          <a:prstGeom prst="roundRect">
            <a:avLst>
              <a:gd name="adj" fmla="val 11538"/>
            </a:avLst>
          </a:prstGeom>
          <a:solidFill>
            <a:schemeClr val="tx2"/>
          </a:solidFill>
          <a:ln w="9525">
            <a:solidFill>
              <a:schemeClr val="accent2"/>
            </a:solidFill>
            <a:prstDash val="solid"/>
          </a:ln>
        </p:spPr>
      </p:sp>
      <p:sp>
        <p:nvSpPr>
          <p:cNvPr id="16" name="frame-14"/>
          <p:cNvSpPr/>
          <p:nvPr/>
        </p:nvSpPr>
        <p:spPr>
          <a:xfrm>
            <a:off x="10040112" y="1929384"/>
            <a:ext cx="475488" cy="475488"/>
          </a:xfrm>
          <a:prstGeom prst="roundRect">
            <a:avLst>
              <a:gd name="adj" fmla="val 11538"/>
            </a:avLst>
          </a:prstGeom>
          <a:solidFill>
            <a:schemeClr val="tx2"/>
          </a:solidFill>
          <a:ln w="9525">
            <a:solidFill>
              <a:schemeClr val="accent2"/>
            </a:solidFill>
            <a:prstDash val="solid"/>
          </a:ln>
        </p:spPr>
      </p:sp>
      <p:sp>
        <p:nvSpPr>
          <p:cNvPr id="17" name="frame-15"/>
          <p:cNvSpPr/>
          <p:nvPr/>
        </p:nvSpPr>
        <p:spPr>
          <a:xfrm>
            <a:off x="10643616" y="1929384"/>
            <a:ext cx="475488" cy="475488"/>
          </a:xfrm>
          <a:prstGeom prst="roundRect">
            <a:avLst>
              <a:gd name="adj" fmla="val 11538"/>
            </a:avLst>
          </a:prstGeom>
          <a:solidFill>
            <a:schemeClr val="accent1"/>
          </a:solidFill>
          <a:ln w="9525">
            <a:solidFill>
              <a:schemeClr val="accent1"/>
            </a:solidFill>
            <a:prstDash val="solid"/>
          </a:ln>
        </p:spPr>
      </p:sp>
      <p:sp>
        <p:nvSpPr>
          <p:cNvPr id="18" name="frame-16"/>
          <p:cNvSpPr/>
          <p:nvPr/>
        </p:nvSpPr>
        <p:spPr>
          <a:xfrm>
            <a:off x="11247120" y="1929384"/>
            <a:ext cx="475488" cy="475488"/>
          </a:xfrm>
          <a:prstGeom prst="roundRect">
            <a:avLst>
              <a:gd name="adj" fmla="val 11538"/>
            </a:avLst>
          </a:prstGeom>
          <a:solidFill>
            <a:schemeClr val="tx2"/>
          </a:solidFill>
          <a:ln w="9525">
            <a:solidFill>
              <a:schemeClr val="accent2"/>
            </a:solidFill>
            <a:prstDash val="solid"/>
          </a:ln>
        </p:spPr>
      </p:sp>
      <p:sp>
        <p:nvSpPr>
          <p:cNvPr id="19" name="frame-17"/>
          <p:cNvSpPr/>
          <p:nvPr/>
        </p:nvSpPr>
        <p:spPr>
          <a:xfrm>
            <a:off x="8229600" y="2532888"/>
            <a:ext cx="475488" cy="475488"/>
          </a:xfrm>
          <a:prstGeom prst="roundRect">
            <a:avLst>
              <a:gd name="adj" fmla="val 11538"/>
            </a:avLst>
          </a:prstGeom>
          <a:solidFill>
            <a:schemeClr val="tx2"/>
          </a:solidFill>
          <a:ln w="9525">
            <a:solidFill>
              <a:schemeClr val="accent2"/>
            </a:solidFill>
            <a:prstDash val="solid"/>
          </a:ln>
        </p:spPr>
      </p:sp>
      <p:sp>
        <p:nvSpPr>
          <p:cNvPr id="20" name="frame-18"/>
          <p:cNvSpPr/>
          <p:nvPr/>
        </p:nvSpPr>
        <p:spPr>
          <a:xfrm>
            <a:off x="8833104" y="2532888"/>
            <a:ext cx="475488" cy="475488"/>
          </a:xfrm>
          <a:prstGeom prst="roundRect">
            <a:avLst>
              <a:gd name="adj" fmla="val 11538"/>
            </a:avLst>
          </a:prstGeom>
          <a:solidFill>
            <a:schemeClr val="tx2"/>
          </a:solidFill>
          <a:ln w="9525">
            <a:solidFill>
              <a:schemeClr val="accent2"/>
            </a:solidFill>
            <a:prstDash val="solid"/>
          </a:ln>
        </p:spPr>
      </p:sp>
      <p:sp>
        <p:nvSpPr>
          <p:cNvPr id="21" name="frame-19"/>
          <p:cNvSpPr/>
          <p:nvPr/>
        </p:nvSpPr>
        <p:spPr>
          <a:xfrm>
            <a:off x="9436608" y="2532888"/>
            <a:ext cx="475488" cy="475488"/>
          </a:xfrm>
          <a:prstGeom prst="roundRect">
            <a:avLst>
              <a:gd name="adj" fmla="val 11538"/>
            </a:avLst>
          </a:prstGeom>
          <a:solidFill>
            <a:schemeClr val="accent1"/>
          </a:solidFill>
          <a:ln w="9525">
            <a:solidFill>
              <a:schemeClr val="accent1"/>
            </a:solidFill>
            <a:prstDash val="solid"/>
          </a:ln>
        </p:spPr>
      </p:sp>
      <p:sp>
        <p:nvSpPr>
          <p:cNvPr id="22" name="frame-20"/>
          <p:cNvSpPr/>
          <p:nvPr/>
        </p:nvSpPr>
        <p:spPr>
          <a:xfrm>
            <a:off x="10040112" y="2532888"/>
            <a:ext cx="475488" cy="475488"/>
          </a:xfrm>
          <a:prstGeom prst="roundRect">
            <a:avLst>
              <a:gd name="adj" fmla="val 11538"/>
            </a:avLst>
          </a:prstGeom>
          <a:solidFill>
            <a:schemeClr val="accent1"/>
          </a:solidFill>
          <a:ln w="9525">
            <a:solidFill>
              <a:schemeClr val="accent1"/>
            </a:solidFill>
            <a:prstDash val="solid"/>
          </a:ln>
        </p:spPr>
      </p:sp>
      <p:sp>
        <p:nvSpPr>
          <p:cNvPr id="23" name="frame-21"/>
          <p:cNvSpPr/>
          <p:nvPr/>
        </p:nvSpPr>
        <p:spPr>
          <a:xfrm>
            <a:off x="10643616" y="2532888"/>
            <a:ext cx="475488" cy="475488"/>
          </a:xfrm>
          <a:prstGeom prst="roundRect">
            <a:avLst>
              <a:gd name="adj" fmla="val 11538"/>
            </a:avLst>
          </a:prstGeom>
          <a:solidFill>
            <a:schemeClr val="tx2"/>
          </a:solidFill>
          <a:ln w="9525">
            <a:solidFill>
              <a:schemeClr val="accent2"/>
            </a:solidFill>
            <a:prstDash val="solid"/>
          </a:ln>
        </p:spPr>
      </p:sp>
      <p:sp>
        <p:nvSpPr>
          <p:cNvPr id="24" name="frame-22"/>
          <p:cNvSpPr/>
          <p:nvPr/>
        </p:nvSpPr>
        <p:spPr>
          <a:xfrm>
            <a:off x="11247120" y="2532888"/>
            <a:ext cx="475488" cy="475488"/>
          </a:xfrm>
          <a:prstGeom prst="roundRect">
            <a:avLst>
              <a:gd name="adj" fmla="val 11538"/>
            </a:avLst>
          </a:prstGeom>
          <a:solidFill>
            <a:schemeClr val="tx2"/>
          </a:solidFill>
          <a:ln w="9525">
            <a:solidFill>
              <a:schemeClr val="accent2"/>
            </a:solidFill>
            <a:prstDash val="solid"/>
          </a:ln>
        </p:spPr>
      </p:sp>
      <p:sp>
        <p:nvSpPr>
          <p:cNvPr id="25" name="frame-23"/>
          <p:cNvSpPr/>
          <p:nvPr/>
        </p:nvSpPr>
        <p:spPr>
          <a:xfrm>
            <a:off x="8229600" y="3136392"/>
            <a:ext cx="475488" cy="475488"/>
          </a:xfrm>
          <a:prstGeom prst="roundRect">
            <a:avLst>
              <a:gd name="adj" fmla="val 11538"/>
            </a:avLst>
          </a:prstGeom>
          <a:solidFill>
            <a:schemeClr val="accent1"/>
          </a:solidFill>
          <a:ln w="9525">
            <a:solidFill>
              <a:schemeClr val="accent1"/>
            </a:solidFill>
            <a:prstDash val="solid"/>
          </a:ln>
        </p:spPr>
      </p:sp>
      <p:sp>
        <p:nvSpPr>
          <p:cNvPr id="26" name="frame-24"/>
          <p:cNvSpPr/>
          <p:nvPr/>
        </p:nvSpPr>
        <p:spPr>
          <a:xfrm>
            <a:off x="8833104" y="3136392"/>
            <a:ext cx="475488" cy="475488"/>
          </a:xfrm>
          <a:prstGeom prst="roundRect">
            <a:avLst>
              <a:gd name="adj" fmla="val 11538"/>
            </a:avLst>
          </a:prstGeom>
          <a:solidFill>
            <a:schemeClr val="tx2"/>
          </a:solidFill>
          <a:ln w="9525">
            <a:solidFill>
              <a:schemeClr val="accent2"/>
            </a:solidFill>
            <a:prstDash val="solid"/>
          </a:ln>
        </p:spPr>
      </p:sp>
      <p:sp>
        <p:nvSpPr>
          <p:cNvPr id="27" name="frame-25"/>
          <p:cNvSpPr/>
          <p:nvPr/>
        </p:nvSpPr>
        <p:spPr>
          <a:xfrm>
            <a:off x="9436608" y="3136392"/>
            <a:ext cx="475488" cy="475488"/>
          </a:xfrm>
          <a:prstGeom prst="roundRect">
            <a:avLst>
              <a:gd name="adj" fmla="val 11538"/>
            </a:avLst>
          </a:prstGeom>
          <a:solidFill>
            <a:schemeClr val="tx2"/>
          </a:solidFill>
          <a:ln w="9525">
            <a:solidFill>
              <a:schemeClr val="accent2"/>
            </a:solidFill>
            <a:prstDash val="solid"/>
          </a:ln>
        </p:spPr>
      </p:sp>
      <p:sp>
        <p:nvSpPr>
          <p:cNvPr id="28" name="frame-26"/>
          <p:cNvSpPr/>
          <p:nvPr/>
        </p:nvSpPr>
        <p:spPr>
          <a:xfrm>
            <a:off x="10040112" y="3136392"/>
            <a:ext cx="475488" cy="475488"/>
          </a:xfrm>
          <a:prstGeom prst="roundRect">
            <a:avLst>
              <a:gd name="adj" fmla="val 11538"/>
            </a:avLst>
          </a:prstGeom>
          <a:solidFill>
            <a:schemeClr val="tx2"/>
          </a:solidFill>
          <a:ln w="9525">
            <a:solidFill>
              <a:schemeClr val="accent2"/>
            </a:solidFill>
            <a:prstDash val="solid"/>
          </a:ln>
        </p:spPr>
      </p:sp>
      <p:sp>
        <p:nvSpPr>
          <p:cNvPr id="29" name="frame-27"/>
          <p:cNvSpPr/>
          <p:nvPr/>
        </p:nvSpPr>
        <p:spPr>
          <a:xfrm>
            <a:off x="10643616" y="3136392"/>
            <a:ext cx="475488" cy="475488"/>
          </a:xfrm>
          <a:prstGeom prst="roundRect">
            <a:avLst>
              <a:gd name="adj" fmla="val 11538"/>
            </a:avLst>
          </a:prstGeom>
          <a:solidFill>
            <a:schemeClr val="accent1"/>
          </a:solidFill>
          <a:ln w="9525">
            <a:solidFill>
              <a:schemeClr val="accent1"/>
            </a:solidFill>
            <a:prstDash val="solid"/>
          </a:ln>
        </p:spPr>
      </p:sp>
      <p:sp>
        <p:nvSpPr>
          <p:cNvPr id="30" name="frame-28"/>
          <p:cNvSpPr/>
          <p:nvPr/>
        </p:nvSpPr>
        <p:spPr>
          <a:xfrm>
            <a:off x="11247120" y="3136392"/>
            <a:ext cx="475488" cy="475488"/>
          </a:xfrm>
          <a:prstGeom prst="roundRect">
            <a:avLst>
              <a:gd name="adj" fmla="val 11538"/>
            </a:avLst>
          </a:prstGeom>
          <a:solidFill>
            <a:schemeClr val="tx2"/>
          </a:solidFill>
          <a:ln w="9525">
            <a:solidFill>
              <a:schemeClr val="accent2"/>
            </a:solidFill>
            <a:prstDash val="solid"/>
          </a:ln>
        </p:spPr>
      </p:sp>
      <p:sp>
        <p:nvSpPr>
          <p:cNvPr id="31" name="frame-29"/>
          <p:cNvSpPr/>
          <p:nvPr/>
        </p:nvSpPr>
        <p:spPr>
          <a:xfrm>
            <a:off x="8229600" y="3739896"/>
            <a:ext cx="475488" cy="475488"/>
          </a:xfrm>
          <a:prstGeom prst="roundRect">
            <a:avLst>
              <a:gd name="adj" fmla="val 11538"/>
            </a:avLst>
          </a:prstGeom>
          <a:solidFill>
            <a:schemeClr val="tx2"/>
          </a:solidFill>
          <a:ln w="9525">
            <a:solidFill>
              <a:schemeClr val="accent2"/>
            </a:solidFill>
            <a:prstDash val="solid"/>
          </a:ln>
        </p:spPr>
      </p:sp>
      <p:sp>
        <p:nvSpPr>
          <p:cNvPr id="32" name="frame-30"/>
          <p:cNvSpPr/>
          <p:nvPr/>
        </p:nvSpPr>
        <p:spPr>
          <a:xfrm>
            <a:off x="8833104" y="3739896"/>
            <a:ext cx="475488" cy="475488"/>
          </a:xfrm>
          <a:prstGeom prst="roundRect">
            <a:avLst>
              <a:gd name="adj" fmla="val 11538"/>
            </a:avLst>
          </a:prstGeom>
          <a:solidFill>
            <a:schemeClr val="accent1"/>
          </a:solidFill>
          <a:ln w="9525">
            <a:solidFill>
              <a:schemeClr val="accent1"/>
            </a:solidFill>
            <a:prstDash val="solid"/>
          </a:ln>
        </p:spPr>
      </p:sp>
      <p:sp>
        <p:nvSpPr>
          <p:cNvPr id="33" name="frame-31"/>
          <p:cNvSpPr/>
          <p:nvPr/>
        </p:nvSpPr>
        <p:spPr>
          <a:xfrm>
            <a:off x="9436608" y="3739896"/>
            <a:ext cx="475488" cy="475488"/>
          </a:xfrm>
          <a:prstGeom prst="roundRect">
            <a:avLst>
              <a:gd name="adj" fmla="val 11538"/>
            </a:avLst>
          </a:prstGeom>
          <a:solidFill>
            <a:schemeClr val="tx2"/>
          </a:solidFill>
          <a:ln w="9525">
            <a:solidFill>
              <a:schemeClr val="accent2"/>
            </a:solidFill>
            <a:prstDash val="solid"/>
          </a:ln>
        </p:spPr>
      </p:sp>
      <p:sp>
        <p:nvSpPr>
          <p:cNvPr id="34" name="frame-32"/>
          <p:cNvSpPr/>
          <p:nvPr/>
        </p:nvSpPr>
        <p:spPr>
          <a:xfrm>
            <a:off x="10040112" y="3739896"/>
            <a:ext cx="475488" cy="475488"/>
          </a:xfrm>
          <a:prstGeom prst="roundRect">
            <a:avLst>
              <a:gd name="adj" fmla="val 11538"/>
            </a:avLst>
          </a:prstGeom>
          <a:solidFill>
            <a:schemeClr val="tx2"/>
          </a:solidFill>
          <a:ln w="9525">
            <a:solidFill>
              <a:schemeClr val="accent2"/>
            </a:solidFill>
            <a:prstDash val="solid"/>
          </a:ln>
        </p:spPr>
      </p:sp>
      <p:sp>
        <p:nvSpPr>
          <p:cNvPr id="35" name="frame-33"/>
          <p:cNvSpPr/>
          <p:nvPr/>
        </p:nvSpPr>
        <p:spPr>
          <a:xfrm>
            <a:off x="10643616" y="3739896"/>
            <a:ext cx="475488" cy="475488"/>
          </a:xfrm>
          <a:prstGeom prst="roundRect">
            <a:avLst>
              <a:gd name="adj" fmla="val 11538"/>
            </a:avLst>
          </a:prstGeom>
          <a:solidFill>
            <a:schemeClr val="tx2"/>
          </a:solidFill>
          <a:ln w="9525">
            <a:solidFill>
              <a:schemeClr val="accent2"/>
            </a:solidFill>
            <a:prstDash val="solid"/>
          </a:ln>
        </p:spPr>
      </p:sp>
      <p:sp>
        <p:nvSpPr>
          <p:cNvPr id="36" name="frame-34"/>
          <p:cNvSpPr/>
          <p:nvPr/>
        </p:nvSpPr>
        <p:spPr>
          <a:xfrm>
            <a:off x="11247120" y="3739896"/>
            <a:ext cx="475488" cy="475488"/>
          </a:xfrm>
          <a:prstGeom prst="roundRect">
            <a:avLst>
              <a:gd name="adj" fmla="val 11538"/>
            </a:avLst>
          </a:prstGeom>
          <a:solidFill>
            <a:schemeClr val="tx2"/>
          </a:solidFill>
          <a:ln w="9525">
            <a:solidFill>
              <a:schemeClr val="accent2"/>
            </a:solidFill>
            <a:prstDash val="solid"/>
          </a:ln>
        </p:spPr>
      </p:sp>
      <p:sp>
        <p:nvSpPr>
          <p:cNvPr id="37" name="frame-35"/>
          <p:cNvSpPr/>
          <p:nvPr/>
        </p:nvSpPr>
        <p:spPr>
          <a:xfrm>
            <a:off x="8229600" y="4343400"/>
            <a:ext cx="475488" cy="475488"/>
          </a:xfrm>
          <a:prstGeom prst="roundRect">
            <a:avLst>
              <a:gd name="adj" fmla="val 11538"/>
            </a:avLst>
          </a:prstGeom>
          <a:solidFill>
            <a:schemeClr val="tx2"/>
          </a:solidFill>
          <a:ln w="9525">
            <a:solidFill>
              <a:schemeClr val="accent2"/>
            </a:solidFill>
            <a:prstDash val="solid"/>
          </a:ln>
        </p:spPr>
      </p:sp>
      <p:sp>
        <p:nvSpPr>
          <p:cNvPr id="38" name="frame-36"/>
          <p:cNvSpPr/>
          <p:nvPr/>
        </p:nvSpPr>
        <p:spPr>
          <a:xfrm>
            <a:off x="8833104" y="4343400"/>
            <a:ext cx="475488" cy="475488"/>
          </a:xfrm>
          <a:prstGeom prst="roundRect">
            <a:avLst>
              <a:gd name="adj" fmla="val 11538"/>
            </a:avLst>
          </a:prstGeom>
          <a:solidFill>
            <a:schemeClr val="tx2"/>
          </a:solidFill>
          <a:ln w="9525">
            <a:solidFill>
              <a:schemeClr val="accent2"/>
            </a:solidFill>
            <a:prstDash val="solid"/>
          </a:ln>
        </p:spPr>
      </p:sp>
      <p:sp>
        <p:nvSpPr>
          <p:cNvPr id="39" name="frame-37"/>
          <p:cNvSpPr/>
          <p:nvPr/>
        </p:nvSpPr>
        <p:spPr>
          <a:xfrm>
            <a:off x="9436608" y="4343400"/>
            <a:ext cx="475488" cy="475488"/>
          </a:xfrm>
          <a:prstGeom prst="roundRect">
            <a:avLst>
              <a:gd name="adj" fmla="val 11538"/>
            </a:avLst>
          </a:prstGeom>
          <a:solidFill>
            <a:schemeClr val="tx2"/>
          </a:solidFill>
          <a:ln w="9525">
            <a:solidFill>
              <a:schemeClr val="accent2"/>
            </a:solidFill>
            <a:prstDash val="solid"/>
          </a:ln>
        </p:spPr>
      </p:sp>
      <p:sp>
        <p:nvSpPr>
          <p:cNvPr id="40" name="frame-38"/>
          <p:cNvSpPr/>
          <p:nvPr/>
        </p:nvSpPr>
        <p:spPr>
          <a:xfrm>
            <a:off x="10040112" y="4343400"/>
            <a:ext cx="475488" cy="475488"/>
          </a:xfrm>
          <a:prstGeom prst="roundRect">
            <a:avLst>
              <a:gd name="adj" fmla="val 11538"/>
            </a:avLst>
          </a:prstGeom>
          <a:solidFill>
            <a:schemeClr val="accent1"/>
          </a:solidFill>
          <a:ln w="9525">
            <a:solidFill>
              <a:schemeClr val="accent1"/>
            </a:solidFill>
            <a:prstDash val="solid"/>
          </a:ln>
        </p:spPr>
      </p:sp>
      <p:sp>
        <p:nvSpPr>
          <p:cNvPr id="41" name="frame-39"/>
          <p:cNvSpPr/>
          <p:nvPr/>
        </p:nvSpPr>
        <p:spPr>
          <a:xfrm>
            <a:off x="10643616" y="4343400"/>
            <a:ext cx="475488" cy="475488"/>
          </a:xfrm>
          <a:prstGeom prst="roundRect">
            <a:avLst>
              <a:gd name="adj" fmla="val 11538"/>
            </a:avLst>
          </a:prstGeom>
          <a:solidFill>
            <a:schemeClr val="accent1"/>
          </a:solidFill>
          <a:ln w="9525">
            <a:solidFill>
              <a:schemeClr val="accent1"/>
            </a:solidFill>
            <a:prstDash val="solid"/>
          </a:ln>
        </p:spPr>
      </p:sp>
      <p:sp>
        <p:nvSpPr>
          <p:cNvPr id="42" name="frame-40"/>
          <p:cNvSpPr/>
          <p:nvPr/>
        </p:nvSpPr>
        <p:spPr>
          <a:xfrm>
            <a:off x="11247120" y="4343400"/>
            <a:ext cx="475488" cy="475488"/>
          </a:xfrm>
          <a:prstGeom prst="roundRect">
            <a:avLst>
              <a:gd name="adj" fmla="val 11538"/>
            </a:avLst>
          </a:prstGeom>
          <a:solidFill>
            <a:schemeClr val="tx2"/>
          </a:solidFill>
          <a:ln w="9525">
            <a:solidFill>
              <a:schemeClr val="accent2"/>
            </a:solidFill>
            <a:prstDash val="solid"/>
          </a:ln>
        </p:spPr>
      </p:sp>
      <p:sp>
        <p:nvSpPr>
          <p:cNvPr id="43" name="text-41"/>
          <p:cNvSpPr txBox="1"/>
          <p:nvPr/>
        </p:nvSpPr>
        <p:spPr>
          <a:xfrm>
            <a:off x="8229600" y="5120640"/>
            <a:ext cx="3520440" cy="548640"/>
          </a:xfrm>
          <a:prstGeom prst="rect">
            <a:avLst/>
          </a:prstGeom>
          <a:noFill/>
          <a:ln/>
        </p:spPr>
        <p:txBody>
          <a:bodyPr wrap="square" lIns="0" tIns="0" rIns="0" bIns="0" rtlCol="0" anchor="t"/>
          <a:lstStyle/>
          <a:p>
            <a:pPr indent="0" marL="0">
              <a:buNone/>
            </a:pPr>
            <a:r>
              <a:rPr lang="en-US" sz="1100" i="1" dirty="0">
                <a:solidFill>
                  <a:schemeClr val="accent3"/>
                </a:solidFill>
                <a:latin typeface="Calibri" pitchFamily="34" charset="0"/>
                <a:ea typeface="Calibri" pitchFamily="34" charset="-122"/>
                <a:cs typeface="Calibri" pitchFamily="34" charset="-120"/>
              </a:rPr>
              <a:t>RAM as page frames: amber pages were prefetched before the program asked for them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Page faults stall programs, and prefetching can backfire</a:t>
            </a:r>
            <a:endParaRPr lang="en-US" sz="3000" dirty="0"/>
          </a:p>
        </p:txBody>
      </p:sp>
      <p:sp>
        <p:nvSpPr>
          <p:cNvPr id="3" name="chip-42"/>
          <p:cNvSpPr/>
          <p:nvPr/>
        </p:nvSpPr>
        <p:spPr>
          <a:xfrm>
            <a:off x="548640" y="1271016"/>
            <a:ext cx="384048" cy="384048"/>
          </a:xfrm>
          <a:prstGeom prst="roundRect">
            <a:avLst>
              <a:gd name="adj" fmla="val 14286"/>
            </a:avLst>
          </a:prstGeom>
          <a:solidFill>
            <a:schemeClr val="bg1"/>
          </a:solidFill>
          <a:ln w="12700">
            <a:solidFill>
              <a:schemeClr val="accent3"/>
            </a:solidFill>
            <a:prstDash val="solid"/>
          </a:ln>
        </p:spPr>
      </p:sp>
      <p:sp>
        <p:nvSpPr>
          <p:cNvPr id="4" name="chiplabel-43"/>
          <p:cNvSpPr txBox="1"/>
          <p:nvPr/>
        </p:nvSpPr>
        <p:spPr>
          <a:xfrm>
            <a:off x="548640" y="1271016"/>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1</a:t>
            </a:r>
            <a:endParaRPr lang="en-US" sz="1400" dirty="0"/>
          </a:p>
        </p:txBody>
      </p:sp>
      <p:sp>
        <p:nvSpPr>
          <p:cNvPr id="5" name="text-44"/>
          <p:cNvSpPr txBox="1"/>
          <p:nvPr/>
        </p:nvSpPr>
        <p:spPr>
          <a:xfrm>
            <a:off x="1097280" y="1234440"/>
            <a:ext cx="4846320" cy="109728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Page faults are expensive</a:t>
            </a:r>
            <a:endParaRPr lang="en-US" sz="1700" dirty="0"/>
          </a:p>
          <a:p>
            <a:pPr indent="0" marL="0">
              <a:buNone/>
            </a:pPr>
            <a:r>
              <a:rPr lang="en-US" sz="1400" dirty="0">
                <a:solidFill>
                  <a:schemeClr val="accent2"/>
                </a:solidFill>
                <a:latin typeface="Calibri" pitchFamily="34" charset="0"/>
                <a:ea typeface="Calibri" pitchFamily="34" charset="-122"/>
                <a:cs typeface="Calibri" pitchFamily="34" charset="-120"/>
              </a:rPr>
              <a:t>A request for a page not in RAM waits for the disk, thousands of times slower than RAM.</a:t>
            </a:r>
            <a:endParaRPr lang="en-US" sz="1700" dirty="0"/>
          </a:p>
        </p:txBody>
      </p:sp>
      <p:sp>
        <p:nvSpPr>
          <p:cNvPr id="6" name="chip-45"/>
          <p:cNvSpPr/>
          <p:nvPr/>
        </p:nvSpPr>
        <p:spPr>
          <a:xfrm>
            <a:off x="548640" y="2478024"/>
            <a:ext cx="384048" cy="384048"/>
          </a:xfrm>
          <a:prstGeom prst="roundRect">
            <a:avLst>
              <a:gd name="adj" fmla="val 14286"/>
            </a:avLst>
          </a:prstGeom>
          <a:solidFill>
            <a:schemeClr val="bg1"/>
          </a:solidFill>
          <a:ln w="12700">
            <a:solidFill>
              <a:schemeClr val="accent3"/>
            </a:solidFill>
            <a:prstDash val="solid"/>
          </a:ln>
        </p:spPr>
      </p:sp>
      <p:sp>
        <p:nvSpPr>
          <p:cNvPr id="7" name="chiplabel-46"/>
          <p:cNvSpPr txBox="1"/>
          <p:nvPr/>
        </p:nvSpPr>
        <p:spPr>
          <a:xfrm>
            <a:off x="548640" y="2478024"/>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2</a:t>
            </a:r>
            <a:endParaRPr lang="en-US" sz="1400" dirty="0"/>
          </a:p>
        </p:txBody>
      </p:sp>
      <p:sp>
        <p:nvSpPr>
          <p:cNvPr id="8" name="text-47"/>
          <p:cNvSpPr txBox="1"/>
          <p:nvPr/>
        </p:nvSpPr>
        <p:spPr>
          <a:xfrm>
            <a:off x="1097280" y="2441448"/>
            <a:ext cx="4846320" cy="109728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Classical paging only reacts</a:t>
            </a:r>
            <a:endParaRPr lang="en-US" sz="1700" dirty="0"/>
          </a:p>
          <a:p>
            <a:pPr indent="0" marL="0">
              <a:buNone/>
            </a:pPr>
            <a:r>
              <a:rPr lang="en-US" sz="1400" dirty="0">
                <a:solidFill>
                  <a:schemeClr val="accent2"/>
                </a:solidFill>
                <a:latin typeface="Calibri" pitchFamily="34" charset="0"/>
                <a:ea typeface="Calibri" pitchFamily="34" charset="-122"/>
                <a:cs typeface="Calibri" pitchFamily="34" charset="-120"/>
              </a:rPr>
              <a:t>FIFO, LRU and Clock act after the fault. Even the optimal policy (OPT) pays for every first visit to a page.</a:t>
            </a:r>
            <a:endParaRPr lang="en-US" sz="1700" dirty="0"/>
          </a:p>
        </p:txBody>
      </p:sp>
      <p:sp>
        <p:nvSpPr>
          <p:cNvPr id="9" name="chip-48"/>
          <p:cNvSpPr/>
          <p:nvPr/>
        </p:nvSpPr>
        <p:spPr>
          <a:xfrm>
            <a:off x="548640" y="3685032"/>
            <a:ext cx="384048" cy="384048"/>
          </a:xfrm>
          <a:prstGeom prst="roundRect">
            <a:avLst>
              <a:gd name="adj" fmla="val 14286"/>
            </a:avLst>
          </a:prstGeom>
          <a:solidFill>
            <a:schemeClr val="accent1"/>
          </a:solidFill>
          <a:ln w="12700">
            <a:solidFill>
              <a:schemeClr val="accent1"/>
            </a:solidFill>
            <a:prstDash val="solid"/>
          </a:ln>
        </p:spPr>
      </p:sp>
      <p:sp>
        <p:nvSpPr>
          <p:cNvPr id="10" name="chiplabel-49"/>
          <p:cNvSpPr txBox="1"/>
          <p:nvPr/>
        </p:nvSpPr>
        <p:spPr>
          <a:xfrm>
            <a:off x="548640" y="36850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1" name="text-50"/>
          <p:cNvSpPr txBox="1"/>
          <p:nvPr/>
        </p:nvSpPr>
        <p:spPr>
          <a:xfrm>
            <a:off x="1097280" y="3648456"/>
            <a:ext cx="4846320" cy="109728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Prefetching is a bet</a:t>
            </a:r>
            <a:endParaRPr lang="en-US" sz="1700" dirty="0"/>
          </a:p>
          <a:p>
            <a:pPr indent="0" marL="0">
              <a:buNone/>
            </a:pPr>
            <a:r>
              <a:rPr lang="en-US" sz="1400" dirty="0">
                <a:solidFill>
                  <a:schemeClr val="accent2"/>
                </a:solidFill>
                <a:latin typeface="Calibri" pitchFamily="34" charset="0"/>
                <a:ea typeface="Calibri" pitchFamily="34" charset="-122"/>
                <a:cs typeface="Calibri" pitchFamily="34" charset="-120"/>
              </a:rPr>
              <a:t>With RAM full, every prefetched page evicts another. A wrong guess can create a fault, so existing prefetchers can make things worse.</a:t>
            </a:r>
            <a:endParaRPr lang="en-US" sz="1700" dirty="0"/>
          </a:p>
        </p:txBody>
      </p:sp>
      <p:sp>
        <p:nvSpPr>
          <p:cNvPr id="12" name="card-51"/>
          <p:cNvSpPr/>
          <p:nvPr/>
        </p:nvSpPr>
        <p:spPr>
          <a:xfrm>
            <a:off x="6400800" y="1188720"/>
            <a:ext cx="5257800" cy="3611880"/>
          </a:xfrm>
          <a:prstGeom prst="roundRect">
            <a:avLst>
              <a:gd name="adj" fmla="val 2025"/>
            </a:avLst>
          </a:prstGeom>
          <a:solidFill>
            <a:schemeClr val="bg2"/>
          </a:solidFill>
          <a:ln w="12700">
            <a:solidFill>
              <a:schemeClr val="bg2"/>
            </a:solidFill>
            <a:prstDash val="solid"/>
          </a:ln>
        </p:spPr>
      </p:sp>
      <p:sp>
        <p:nvSpPr>
          <p:cNvPr id="13" name="text-52"/>
          <p:cNvSpPr txBox="1"/>
          <p:nvPr/>
        </p:nvSpPr>
        <p:spPr>
          <a:xfrm>
            <a:off x="6675120" y="1325880"/>
            <a:ext cx="475488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Objectives</a:t>
            </a:r>
            <a:endParaRPr lang="en-US" sz="1800" dirty="0"/>
          </a:p>
        </p:txBody>
      </p:sp>
      <p:sp>
        <p:nvSpPr>
          <p:cNvPr id="14" name="text-53"/>
          <p:cNvSpPr txBox="1"/>
          <p:nvPr/>
        </p:nvSpPr>
        <p:spPr>
          <a:xfrm>
            <a:off x="6675120" y="1783080"/>
            <a:ext cx="4800600" cy="29260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Build a correct, reproducible paging simulator with 6 eviction policies including OPT</a:t>
            </a:r>
            <a:endParaRPr lang="en-US" sz="1400" dirty="0"/>
          </a:p>
          <a:p>
            <a:pPr marL="177800" indent="-1778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Build lightweight predictors: Markov, delta-Markov, stride, Linux-style readahead</a:t>
            </a:r>
            <a:endParaRPr lang="en-US" sz="1400" dirty="0"/>
          </a:p>
          <a:p>
            <a:pPr marL="177800" indent="-1778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Build a decision engine that prefetches only when it measurably helps</a:t>
            </a:r>
            <a:endParaRPr lang="en-US" sz="1400" dirty="0"/>
          </a:p>
          <a:p>
            <a:pPr marL="177800" indent="-1778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Find which feedback signal works, and make it cheap enough to deploy</a:t>
            </a:r>
            <a:endParaRPr lang="en-US" sz="1400" dirty="0"/>
          </a:p>
          <a:p>
            <a:pPr marL="177800" indent="-1778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Evaluate on real programs without tuning on test data, in faults and in time</a:t>
            </a:r>
            <a:endParaRPr lang="en-US" sz="1400" dirty="0"/>
          </a:p>
        </p:txBody>
      </p:sp>
      <p:sp>
        <p:nvSpPr>
          <p:cNvPr id="15" name="text-54"/>
          <p:cNvSpPr txBox="1"/>
          <p:nvPr/>
        </p:nvSpPr>
        <p:spPr>
          <a:xfrm>
            <a:off x="548640" y="5029200"/>
            <a:ext cx="356616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55.0%</a:t>
            </a:r>
            <a:endParaRPr lang="en-US" sz="3600" dirty="0"/>
          </a:p>
        </p:txBody>
      </p:sp>
      <p:sp>
        <p:nvSpPr>
          <p:cNvPr id="16" name="text-55"/>
          <p:cNvSpPr txBox="1"/>
          <p:nvPr/>
        </p:nvSpPr>
        <p:spPr>
          <a:xfrm>
            <a:off x="548640" y="5715000"/>
            <a:ext cx="3383280" cy="502920"/>
          </a:xfrm>
          <a:prstGeom prst="rect">
            <a:avLst/>
          </a:prstGeom>
          <a:noFill/>
          <a:ln/>
        </p:spPr>
        <p:txBody>
          <a:bodyPr wrap="square" lIns="0" tIns="0" rIns="0" bIns="0" rtlCol="0" anchor="t"/>
          <a:lstStyle/>
          <a:p>
            <a:pPr indent="0" marL="0">
              <a:buNone/>
            </a:pPr>
            <a:r>
              <a:rPr lang="en-US" sz="1300" dirty="0">
                <a:solidFill>
                  <a:schemeClr val="accent2"/>
                </a:solidFill>
                <a:latin typeface="Calibri" pitchFamily="34" charset="0"/>
                <a:ea typeface="Calibri" pitchFamily="34" charset="-122"/>
                <a:cs typeface="Calibri" pitchFamily="34" charset="-120"/>
              </a:rPr>
              <a:t>fewer page faults than LRU (mean, 44 configurations)</a:t>
            </a:r>
            <a:endParaRPr lang="en-US" sz="1300" dirty="0"/>
          </a:p>
        </p:txBody>
      </p:sp>
      <p:sp>
        <p:nvSpPr>
          <p:cNvPr id="17" name="text-56"/>
          <p:cNvSpPr txBox="1"/>
          <p:nvPr/>
        </p:nvSpPr>
        <p:spPr>
          <a:xfrm>
            <a:off x="4297680" y="5029200"/>
            <a:ext cx="3566160" cy="68580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1.43×</a:t>
            </a:r>
            <a:endParaRPr lang="en-US" sz="3600" dirty="0"/>
          </a:p>
        </p:txBody>
      </p:sp>
      <p:sp>
        <p:nvSpPr>
          <p:cNvPr id="18" name="text-57"/>
          <p:cNvSpPr txBox="1"/>
          <p:nvPr/>
        </p:nvSpPr>
        <p:spPr>
          <a:xfrm>
            <a:off x="4297680" y="5715000"/>
            <a:ext cx="3383280" cy="502920"/>
          </a:xfrm>
          <a:prstGeom prst="rect">
            <a:avLst/>
          </a:prstGeom>
          <a:noFill/>
          <a:ln/>
        </p:spPr>
        <p:txBody>
          <a:bodyPr wrap="square" lIns="0" tIns="0" rIns="0" bIns="0" rtlCol="0" anchor="t"/>
          <a:lstStyle/>
          <a:p>
            <a:pPr indent="0" marL="0">
              <a:buNone/>
            </a:pPr>
            <a:r>
              <a:rPr lang="en-US" sz="1300" dirty="0">
                <a:solidFill>
                  <a:schemeClr val="accent2"/>
                </a:solidFill>
                <a:latin typeface="Calibri" pitchFamily="34" charset="0"/>
                <a:ea typeface="Calibri" pitchFamily="34" charset="-122"/>
                <a:cs typeface="Calibri" pitchFamily="34" charset="-120"/>
              </a:rPr>
              <a:t>estimated speed-up over LRU on an NVMe SSD</a:t>
            </a:r>
            <a:endParaRPr lang="en-US" sz="1300" dirty="0"/>
          </a:p>
        </p:txBody>
      </p:sp>
      <p:sp>
        <p:nvSpPr>
          <p:cNvPr id="19" name="text-58"/>
          <p:cNvSpPr txBox="1"/>
          <p:nvPr/>
        </p:nvSpPr>
        <p:spPr>
          <a:xfrm>
            <a:off x="8046720" y="5029200"/>
            <a:ext cx="3566160" cy="68580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1 of 44</a:t>
            </a:r>
            <a:endParaRPr lang="en-US" sz="3600" dirty="0"/>
          </a:p>
        </p:txBody>
      </p:sp>
      <p:sp>
        <p:nvSpPr>
          <p:cNvPr id="20" name="text-59"/>
          <p:cNvSpPr txBox="1"/>
          <p:nvPr/>
        </p:nvSpPr>
        <p:spPr>
          <a:xfrm>
            <a:off x="8046720" y="5715000"/>
            <a:ext cx="3383280" cy="502920"/>
          </a:xfrm>
          <a:prstGeom prst="rect">
            <a:avLst/>
          </a:prstGeom>
          <a:noFill/>
          <a:ln/>
        </p:spPr>
        <p:txBody>
          <a:bodyPr wrap="square" lIns="0" tIns="0" rIns="0" bIns="0" rtlCol="0" anchor="t"/>
          <a:lstStyle/>
          <a:p>
            <a:pPr indent="0" marL="0">
              <a:buNone/>
            </a:pPr>
            <a:r>
              <a:rPr lang="en-US" sz="1300" dirty="0">
                <a:solidFill>
                  <a:schemeClr val="accent2"/>
                </a:solidFill>
                <a:latin typeface="Calibri" pitchFamily="34" charset="0"/>
                <a:ea typeface="Calibri" pitchFamily="34" charset="-122"/>
                <a:cs typeface="Calibri" pitchFamily="34" charset="-120"/>
              </a:rPr>
              <a:t>configurations where it is worse than LRU</a:t>
            </a:r>
            <a:endParaRPr lang="en-US" sz="13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Existing approaches leave a gap that our design fills</a:t>
            </a:r>
            <a:endParaRPr lang="en-US" sz="3000" dirty="0"/>
          </a:p>
        </p:txBody>
      </p:sp>
      <p:graphicFrame>
        <p:nvGraphicFramePr>
          <p:cNvPr id="4" name="table-60"/>
          <p:cNvGraphicFramePr>
            <a:graphicFrameLocks noGrp="1"/>
          </p:cNvGraphicFramePr>
          <p:nvPr>
            <p:extLst>
              <p:ext uri="{D42A27DB-BD31-4B8C-83A1-F6EECF244321}">
                <p14:modId xmlns:p14="http://schemas.microsoft.com/office/powerpoint/2010/main" val="1579011935"/>
              </p:ext>
            </p:extLst>
          </p:nvPr>
        </p:nvGraphicFramePr>
        <p:xfrm>
          <a:off x="548640" y="1188720"/>
          <a:ext cx="6949440" cy="914400"/>
        </p:xfrm>
        <a:graphic>
          <a:graphicData uri="http://schemas.openxmlformats.org/drawingml/2006/table">
            <a:tbl>
              <a:tblPr/>
              <a:tblGrid>
                <a:gridCol w="1965960"/>
                <a:gridCol w="2514600"/>
                <a:gridCol w="2468880"/>
              </a:tblGrid>
              <a:tr h="475488">
                <a:tc>
                  <a:txBody>
                    <a:bodyPr/>
                    <a:lstStyle/>
                    <a:p>
                      <a:pPr indent="0" marL="0">
                        <a:buNone/>
                      </a:pPr>
                      <a:r>
                        <a:rPr lang="en-US" sz="1300" b="1" dirty="0">
                          <a:solidFill>
                            <a:srgbClr val="1F1D1A"/>
                          </a:solidFill>
                          <a:latin typeface="Calibri" pitchFamily="34" charset="0"/>
                          <a:ea typeface="Calibri" pitchFamily="34" charset="-122"/>
                          <a:cs typeface="Calibri" pitchFamily="34" charset="-120"/>
                        </a:rPr>
                        <a:t>Approach</a:t>
                      </a:r>
                      <a:endParaRPr lang="en-US" sz="13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solidFill>
                      <a:srgbClr val="F3F1ED"/>
                    </a:solidFill>
                  </a:tcPr>
                </a:tc>
                <a:tc>
                  <a:txBody>
                    <a:bodyPr/>
                    <a:lstStyle/>
                    <a:p>
                      <a:pPr indent="0" marL="0">
                        <a:buNone/>
                      </a:pPr>
                      <a:r>
                        <a:rPr lang="en-US" sz="1300" b="1" dirty="0">
                          <a:solidFill>
                            <a:srgbClr val="1F1D1A"/>
                          </a:solidFill>
                          <a:latin typeface="Calibri" pitchFamily="34" charset="0"/>
                          <a:ea typeface="Calibri" pitchFamily="34" charset="-122"/>
                          <a:cs typeface="Calibri" pitchFamily="34" charset="-120"/>
                        </a:rPr>
                        <a:t>How it works</a:t>
                      </a:r>
                      <a:endParaRPr lang="en-US" sz="13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solidFill>
                      <a:srgbClr val="F3F1ED"/>
                    </a:solidFill>
                  </a:tcPr>
                </a:tc>
                <a:tc>
                  <a:txBody>
                    <a:bodyPr/>
                    <a:lstStyle/>
                    <a:p>
                      <a:pPr indent="0" marL="0">
                        <a:buNone/>
                      </a:pPr>
                      <a:r>
                        <a:rPr lang="en-US" sz="1300" b="1" dirty="0">
                          <a:solidFill>
                            <a:srgbClr val="1F1D1A"/>
                          </a:solidFill>
                          <a:latin typeface="Calibri" pitchFamily="34" charset="0"/>
                          <a:ea typeface="Calibri" pitchFamily="34" charset="-122"/>
                          <a:cs typeface="Calibri" pitchFamily="34" charset="-120"/>
                        </a:rPr>
                        <a:t>Gap (measured on our 22 traces)</a:t>
                      </a:r>
                      <a:endParaRPr lang="en-US" sz="13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solidFill>
                      <a:srgbClr val="F3F1ED"/>
                    </a:solidFill>
                  </a:tcPr>
                </a:tc>
              </a:tr>
              <a:tr h="475488">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FIFO / LRU / Clock</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Evict after a fault</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Reactive; cannot avoid first-visit faults</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r>
              <a:tr h="475488">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OPT (Belady)</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Evict page needed furthest ahead</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Needs the future; still pays first-visit faults</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r>
              <a:tr h="475488">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ARC / LRU-2</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Smarter eviction (recency + frequency)</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No gain here: ARC −0.5% vs LRU</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r>
              <a:tr h="475488">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Linux readahead</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Fetch next pages of a sequential run</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Blind to non-sequential patterns; worst −19.3%</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r>
              <a:tr h="475488">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Markov prefetching [Joseph &amp; Grunwald 1997]</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Learn page-to-page transitions</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Cannot predict unseen pages: +7.7%</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r>
              <a:tr h="475488">
                <a:tc>
                  <a:txBody>
                    <a:bodyPr/>
                    <a:lstStyle/>
                    <a:p>
                      <a:pPr indent="0" marL="0">
                        <a:buNone/>
                      </a:pPr>
                      <a:r>
                        <a:rPr lang="en-US" sz="1200" b="1" dirty="0">
                          <a:solidFill>
                            <a:srgbClr val="1F1D1A"/>
                          </a:solidFill>
                          <a:latin typeface="Calibri" pitchFamily="34" charset="0"/>
                          <a:ea typeface="Calibri" pitchFamily="34" charset="-122"/>
                          <a:cs typeface="Calibri" pitchFamily="34" charset="-120"/>
                        </a:rPr>
                        <a:t>Proposed system</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solidFill>
                      <a:srgbClr val="F7EAD9"/>
                    </a:solidFill>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Readahead + delta-Markov, gated by measured fault delta</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solidFill>
                      <a:srgbClr val="F7EAD9"/>
                    </a:solidFill>
                  </a:tcPr>
                </a:tc>
                <a:tc>
                  <a:txBody>
                    <a:bodyPr/>
                    <a:lstStyle/>
                    <a:p>
                      <a:pPr indent="0" marL="0">
                        <a:buNone/>
                      </a:pPr>
                      <a:r>
                        <a:rPr lang="en-US" sz="1200" b="1" dirty="0">
                          <a:solidFill>
                            <a:srgbClr val="C2700A"/>
                          </a:solidFill>
                          <a:latin typeface="Calibri" pitchFamily="34" charset="0"/>
                          <a:ea typeface="Calibri" pitchFamily="34" charset="-122"/>
                          <a:cs typeface="Calibri" pitchFamily="34" charset="-120"/>
                        </a:rPr>
                        <a:t>+55.0% mean, worst −3.3%</a:t>
                      </a:r>
                      <a:endParaRPr lang="en-US" sz="1200" dirty="0">
                        <a:latin typeface="Calibri" charset="0"/>
                        <a:ea typeface="Calibri" charset="0"/>
                        <a:cs typeface="Calibri" charset="0"/>
                      </a:endParaRPr>
                    </a:p>
                  </a:txBody>
                  <a:tcPr marL="76200" marR="76200" marT="38100" marB="381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solidFill>
                      <a:srgbClr val="F7EAD9"/>
                    </a:solidFill>
                  </a:tcPr>
                </a:tc>
              </a:tr>
            </a:tbl>
          </a:graphicData>
        </a:graphic>
      </p:graphicFrame>
      <p:sp>
        <p:nvSpPr>
          <p:cNvPr id="4" name="card-61"/>
          <p:cNvSpPr/>
          <p:nvPr/>
        </p:nvSpPr>
        <p:spPr>
          <a:xfrm>
            <a:off x="7818120" y="1188720"/>
            <a:ext cx="3840480" cy="5029200"/>
          </a:xfrm>
          <a:prstGeom prst="roundRect">
            <a:avLst>
              <a:gd name="adj" fmla="val 1905"/>
            </a:avLst>
          </a:prstGeom>
          <a:solidFill>
            <a:schemeClr val="bg2"/>
          </a:solidFill>
          <a:ln w="12700">
            <a:solidFill>
              <a:schemeClr val="bg2"/>
            </a:solidFill>
            <a:prstDash val="solid"/>
          </a:ln>
        </p:spPr>
      </p:sp>
      <p:sp>
        <p:nvSpPr>
          <p:cNvPr id="5" name="text-62"/>
          <p:cNvSpPr txBox="1"/>
          <p:nvPr/>
        </p:nvSpPr>
        <p:spPr>
          <a:xfrm>
            <a:off x="8046720" y="1325880"/>
            <a:ext cx="347472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What is new (with evidence)</a:t>
            </a:r>
            <a:endParaRPr lang="en-US" sz="1700" dirty="0"/>
          </a:p>
        </p:txBody>
      </p:sp>
      <p:sp>
        <p:nvSpPr>
          <p:cNvPr id="6" name="chip-63"/>
          <p:cNvSpPr/>
          <p:nvPr/>
        </p:nvSpPr>
        <p:spPr>
          <a:xfrm>
            <a:off x="8046720" y="1856232"/>
            <a:ext cx="347472" cy="347472"/>
          </a:xfrm>
          <a:prstGeom prst="roundRect">
            <a:avLst>
              <a:gd name="adj" fmla="val 15789"/>
            </a:avLst>
          </a:prstGeom>
          <a:solidFill>
            <a:schemeClr val="accent1"/>
          </a:solidFill>
          <a:ln w="12700">
            <a:solidFill>
              <a:schemeClr val="accent1"/>
            </a:solidFill>
            <a:prstDash val="solid"/>
          </a:ln>
        </p:spPr>
      </p:sp>
      <p:sp>
        <p:nvSpPr>
          <p:cNvPr id="7" name="chiplabel-64"/>
          <p:cNvSpPr txBox="1"/>
          <p:nvPr/>
        </p:nvSpPr>
        <p:spPr>
          <a:xfrm>
            <a:off x="8046720" y="1856232"/>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8" name="text-65"/>
          <p:cNvSpPr txBox="1"/>
          <p:nvPr/>
        </p:nvSpPr>
        <p:spPr>
          <a:xfrm>
            <a:off x="8503920" y="1828800"/>
            <a:ext cx="3017520" cy="132588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Which feedback signal works</a:t>
            </a:r>
            <a:endParaRPr lang="en-US" sz="1400" dirty="0"/>
          </a:p>
          <a:p>
            <a:pPr indent="0" marL="0">
              <a:buNone/>
            </a:pPr>
            <a:r>
              <a:rPr lang="en-US" sz="1200" dirty="0">
                <a:solidFill>
                  <a:schemeClr val="accent2"/>
                </a:solidFill>
                <a:latin typeface="Calibri" pitchFamily="34" charset="0"/>
                <a:ea typeface="Calibri" pitchFamily="34" charset="-122"/>
                <a:cs typeface="Calibri" pitchFamily="34" charset="-120"/>
              </a:rPr>
              <a:t>Confidence is never below 0.5 (structural); precision of 81–86% coexisted with rising faults. Measured fault delta halved the worst case.</a:t>
            </a:r>
            <a:endParaRPr lang="en-US" sz="1400" dirty="0"/>
          </a:p>
        </p:txBody>
      </p:sp>
      <p:sp>
        <p:nvSpPr>
          <p:cNvPr id="9" name="chip-66"/>
          <p:cNvSpPr/>
          <p:nvPr/>
        </p:nvSpPr>
        <p:spPr>
          <a:xfrm>
            <a:off x="8046720" y="3273552"/>
            <a:ext cx="347472" cy="347472"/>
          </a:xfrm>
          <a:prstGeom prst="roundRect">
            <a:avLst>
              <a:gd name="adj" fmla="val 15789"/>
            </a:avLst>
          </a:prstGeom>
          <a:solidFill>
            <a:schemeClr val="accent1"/>
          </a:solidFill>
          <a:ln w="12700">
            <a:solidFill>
              <a:schemeClr val="accent1"/>
            </a:solidFill>
            <a:prstDash val="solid"/>
          </a:ln>
        </p:spPr>
      </p:sp>
      <p:sp>
        <p:nvSpPr>
          <p:cNvPr id="10" name="chiplabel-67"/>
          <p:cNvSpPr txBox="1"/>
          <p:nvPr/>
        </p:nvSpPr>
        <p:spPr>
          <a:xfrm>
            <a:off x="8046720" y="3273552"/>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68"/>
          <p:cNvSpPr txBox="1"/>
          <p:nvPr/>
        </p:nvSpPr>
        <p:spPr>
          <a:xfrm>
            <a:off x="8503920" y="3246120"/>
            <a:ext cx="3017520" cy="132588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Exact, cheap feedback</a:t>
            </a:r>
            <a:endParaRPr lang="en-US" sz="1400" dirty="0"/>
          </a:p>
          <a:p>
            <a:pPr indent="0" marL="0">
              <a:buNone/>
            </a:pPr>
            <a:r>
              <a:rPr lang="en-US" sz="1200" dirty="0">
                <a:solidFill>
                  <a:schemeClr val="accent2"/>
                </a:solidFill>
                <a:latin typeface="Calibri" pitchFamily="34" charset="0"/>
                <a:ea typeface="Calibri" pitchFamily="34" charset="-122"/>
                <a:cs typeface="Calibri" pitchFamily="34" charset="-120"/>
              </a:rPr>
              <a:t>Shadow directory stores page IDs only (~0.2% of RAM); 1/8 sampling gave identical faults on 9 of 10 traces.</a:t>
            </a:r>
            <a:endParaRPr lang="en-US" sz="1400" dirty="0"/>
          </a:p>
        </p:txBody>
      </p:sp>
      <p:sp>
        <p:nvSpPr>
          <p:cNvPr id="12" name="chip-69"/>
          <p:cNvSpPr/>
          <p:nvPr/>
        </p:nvSpPr>
        <p:spPr>
          <a:xfrm>
            <a:off x="8046720" y="4690872"/>
            <a:ext cx="347472" cy="347472"/>
          </a:xfrm>
          <a:prstGeom prst="roundRect">
            <a:avLst>
              <a:gd name="adj" fmla="val 15789"/>
            </a:avLst>
          </a:prstGeom>
          <a:solidFill>
            <a:schemeClr val="accent1"/>
          </a:solidFill>
          <a:ln w="12700">
            <a:solidFill>
              <a:schemeClr val="accent1"/>
            </a:solidFill>
            <a:prstDash val="solid"/>
          </a:ln>
        </p:spPr>
      </p:sp>
      <p:sp>
        <p:nvSpPr>
          <p:cNvPr id="13" name="chiplabel-70"/>
          <p:cNvSpPr txBox="1"/>
          <p:nvPr/>
        </p:nvSpPr>
        <p:spPr>
          <a:xfrm>
            <a:off x="8046720" y="4690872"/>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4" name="text-71"/>
          <p:cNvSpPr txBox="1"/>
          <p:nvPr/>
        </p:nvSpPr>
        <p:spPr>
          <a:xfrm>
            <a:off x="8503920" y="4663440"/>
            <a:ext cx="3017520" cy="132588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Time-aware evaluation</a:t>
            </a:r>
            <a:endParaRPr lang="en-US" sz="1400" dirty="0"/>
          </a:p>
          <a:p>
            <a:pPr indent="0" marL="0">
              <a:buNone/>
            </a:pPr>
            <a:r>
              <a:rPr lang="en-US" sz="1200" dirty="0">
                <a:solidFill>
                  <a:schemeClr val="accent2"/>
                </a:solidFill>
                <a:latin typeface="Calibri" pitchFamily="34" charset="0"/>
                <a:ea typeface="Calibri" pitchFamily="34" charset="-122"/>
                <a:cs typeface="Calibri" pitchFamily="34" charset="-120"/>
              </a:rPr>
              <a:t>Fewer faults ≠ faster: timeliness and disk type decide (slide 8).</a:t>
            </a:r>
            <a:endParaRPr lang="en-US" sz="1400" dirty="0"/>
          </a:p>
        </p:txBody>
      </p:sp>
      <p:sp>
        <p:nvSpPr>
          <p:cNvPr id="15" name="text-72"/>
          <p:cNvSpPr txBox="1"/>
          <p:nvPr/>
        </p:nvSpPr>
        <p:spPr>
          <a:xfrm>
            <a:off x="548640" y="4709160"/>
            <a:ext cx="6949440" cy="548640"/>
          </a:xfrm>
          <a:prstGeom prst="rect">
            <a:avLst/>
          </a:prstGeom>
          <a:noFill/>
          <a:ln/>
        </p:spPr>
        <p:txBody>
          <a:bodyPr wrap="square" lIns="0" tIns="0" rIns="0" bIns="0" rtlCol="0" anchor="t"/>
          <a:lstStyle/>
          <a:p>
            <a:pPr indent="0" marL="0">
              <a:buNone/>
            </a:pPr>
            <a:r>
              <a:rPr lang="en-US" sz="1100" i="1" dirty="0">
                <a:solidFill>
                  <a:schemeClr val="accent2"/>
                </a:solidFill>
                <a:latin typeface="Calibri" pitchFamily="34" charset="0"/>
                <a:ea typeface="Calibri" pitchFamily="34" charset="-122"/>
                <a:cs typeface="Calibri" pitchFamily="34" charset="-120"/>
              </a:rPr>
              <a:t>Building blocks are known (Markov prefetching, readahead, fault-rate feedback, ghost lists); the contribution is their combination and evaluation.</a:t>
            </a:r>
            <a:endParaRPr lang="en-US" sz="11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Architecture: predict, decide, prefetch, measure, adapt</a:t>
            </a:r>
            <a:endParaRPr lang="en-US" sz="3000" dirty="0"/>
          </a:p>
        </p:txBody>
      </p:sp>
      <p:sp>
        <p:nvSpPr>
          <p:cNvPr id="3" name="node-73"/>
          <p:cNvSpPr/>
          <p:nvPr/>
        </p:nvSpPr>
        <p:spPr>
          <a:xfrm>
            <a:off x="548640" y="1417320"/>
            <a:ext cx="1965960" cy="1051560"/>
          </a:xfrm>
          <a:prstGeom prst="roundRect">
            <a:avLst>
              <a:gd name="adj" fmla="val 6957"/>
            </a:avLst>
          </a:prstGeom>
          <a:solidFill>
            <a:srgbClr val="F3F1ED"/>
          </a:solidFill>
          <a:ln w="15875">
            <a:solidFill>
              <a:srgbClr val="D6D2CA"/>
            </a:solidFill>
            <a:prstDash val="solid"/>
          </a:ln>
        </p:spPr>
      </p:sp>
      <p:sp>
        <p:nvSpPr>
          <p:cNvPr id="4" name="nodetext-74"/>
          <p:cNvSpPr txBox="1"/>
          <p:nvPr/>
        </p:nvSpPr>
        <p:spPr>
          <a:xfrm>
            <a:off x="621792" y="1417320"/>
            <a:ext cx="1819656" cy="1051560"/>
          </a:xfrm>
          <a:prstGeom prst="rect">
            <a:avLst/>
          </a:prstGeom>
          <a:noFill/>
          <a:ln/>
        </p:spPr>
        <p:txBody>
          <a:bodyPr wrap="square" lIns="0" tIns="0" rIns="0" bIns="0" rtlCol="0" anchor="ctr"/>
          <a:lstStyle/>
          <a:p>
            <a:pPr algn="ctr" indent="0" marL="0">
              <a:buNone/>
            </a:pPr>
            <a:r>
              <a:rPr lang="en-US" sz="1400" b="1" dirty="0">
                <a:solidFill>
                  <a:srgbClr val="1F1D1A"/>
                </a:solidFill>
                <a:latin typeface="Calibri" pitchFamily="34" charset="0"/>
                <a:ea typeface="Calibri" pitchFamily="34" charset="-122"/>
                <a:cs typeface="Calibri" pitchFamily="34" charset="-120"/>
              </a:rPr>
              <a:t>Input trace</a:t>
            </a:r>
            <a:endParaRPr lang="en-US" sz="1400" dirty="0"/>
          </a:p>
          <a:p>
            <a:pPr algn="ctr" indent="0" marL="0">
              <a:buNone/>
            </a:pPr>
            <a:r>
              <a:rPr lang="en-US" sz="1100" dirty="0">
                <a:solidFill>
                  <a:srgbClr val="6B665E"/>
                </a:solidFill>
                <a:latin typeface="Calibri" pitchFamily="34" charset="0"/>
                <a:ea typeface="Calibri" pitchFamily="34" charset="-122"/>
                <a:cs typeface="Calibri" pitchFamily="34" charset="-120"/>
              </a:rPr>
              <a:t>page numbers of a real program</a:t>
            </a:r>
            <a:endParaRPr lang="en-US" sz="1400" dirty="0"/>
          </a:p>
        </p:txBody>
      </p:sp>
      <p:sp>
        <p:nvSpPr>
          <p:cNvPr id="5" name="node-75"/>
          <p:cNvSpPr/>
          <p:nvPr/>
        </p:nvSpPr>
        <p:spPr>
          <a:xfrm>
            <a:off x="2880360" y="1417320"/>
            <a:ext cx="1965960" cy="1051560"/>
          </a:xfrm>
          <a:prstGeom prst="roundRect">
            <a:avLst>
              <a:gd name="adj" fmla="val 6957"/>
            </a:avLst>
          </a:prstGeom>
          <a:solidFill>
            <a:srgbClr val="F7EAD9"/>
          </a:solidFill>
          <a:ln w="15875">
            <a:solidFill>
              <a:srgbClr val="C2700A"/>
            </a:solidFill>
            <a:prstDash val="solid"/>
          </a:ln>
        </p:spPr>
      </p:sp>
      <p:sp>
        <p:nvSpPr>
          <p:cNvPr id="6" name="nodetext-76"/>
          <p:cNvSpPr txBox="1"/>
          <p:nvPr/>
        </p:nvSpPr>
        <p:spPr>
          <a:xfrm>
            <a:off x="2953512" y="1417320"/>
            <a:ext cx="1819656" cy="1051560"/>
          </a:xfrm>
          <a:prstGeom prst="rect">
            <a:avLst/>
          </a:prstGeom>
          <a:noFill/>
          <a:ln/>
        </p:spPr>
        <p:txBody>
          <a:bodyPr wrap="square" lIns="0" tIns="0" rIns="0" bIns="0" rtlCol="0" anchor="ctr"/>
          <a:lstStyle/>
          <a:p>
            <a:pPr algn="ctr" indent="0" marL="0">
              <a:buNone/>
            </a:pPr>
            <a:r>
              <a:rPr lang="en-US" sz="1400" b="1" dirty="0">
                <a:solidFill>
                  <a:srgbClr val="1F1D1A"/>
                </a:solidFill>
                <a:latin typeface="Calibri" pitchFamily="34" charset="0"/>
                <a:ea typeface="Calibri" pitchFamily="34" charset="-122"/>
                <a:cs typeface="Calibri" pitchFamily="34" charset="-120"/>
              </a:rPr>
              <a:t>Predictor</a:t>
            </a:r>
            <a:endParaRPr lang="en-US" sz="1400" dirty="0"/>
          </a:p>
          <a:p>
            <a:pPr algn="ctr" indent="0" marL="0">
              <a:buNone/>
            </a:pPr>
            <a:r>
              <a:rPr lang="en-US" sz="1100" dirty="0">
                <a:solidFill>
                  <a:srgbClr val="6B665E"/>
                </a:solidFill>
                <a:latin typeface="Calibri" pitchFamily="34" charset="0"/>
                <a:ea typeface="Calibri" pitchFamily="34" charset="-122"/>
                <a:cs typeface="Calibri" pitchFamily="34" charset="-120"/>
              </a:rPr>
              <a:t>readahead + delta-Markov</a:t>
            </a:r>
            <a:endParaRPr lang="en-US" sz="1400" dirty="0"/>
          </a:p>
        </p:txBody>
      </p:sp>
      <p:sp>
        <p:nvSpPr>
          <p:cNvPr id="7" name="node-77"/>
          <p:cNvSpPr/>
          <p:nvPr/>
        </p:nvSpPr>
        <p:spPr>
          <a:xfrm>
            <a:off x="5212080" y="1417320"/>
            <a:ext cx="1965960" cy="1051560"/>
          </a:xfrm>
          <a:prstGeom prst="roundRect">
            <a:avLst>
              <a:gd name="adj" fmla="val 6957"/>
            </a:avLst>
          </a:prstGeom>
          <a:solidFill>
            <a:srgbClr val="F7EAD9"/>
          </a:solidFill>
          <a:ln w="15875">
            <a:solidFill>
              <a:srgbClr val="C2700A"/>
            </a:solidFill>
            <a:prstDash val="solid"/>
          </a:ln>
        </p:spPr>
      </p:sp>
      <p:sp>
        <p:nvSpPr>
          <p:cNvPr id="8" name="nodetext-78"/>
          <p:cNvSpPr txBox="1"/>
          <p:nvPr/>
        </p:nvSpPr>
        <p:spPr>
          <a:xfrm>
            <a:off x="5285232" y="1417320"/>
            <a:ext cx="1819656" cy="1051560"/>
          </a:xfrm>
          <a:prstGeom prst="rect">
            <a:avLst/>
          </a:prstGeom>
          <a:noFill/>
          <a:ln/>
        </p:spPr>
        <p:txBody>
          <a:bodyPr wrap="square" lIns="0" tIns="0" rIns="0" bIns="0" rtlCol="0" anchor="ctr"/>
          <a:lstStyle/>
          <a:p>
            <a:pPr algn="ctr" indent="0" marL="0">
              <a:buNone/>
            </a:pPr>
            <a:r>
              <a:rPr lang="en-US" sz="1400" b="1" dirty="0">
                <a:solidFill>
                  <a:srgbClr val="1F1D1A"/>
                </a:solidFill>
                <a:latin typeface="Calibri" pitchFamily="34" charset="0"/>
                <a:ea typeface="Calibri" pitchFamily="34" charset="-122"/>
                <a:cs typeface="Calibri" pitchFamily="34" charset="-120"/>
              </a:rPr>
              <a:t>Decision engine</a:t>
            </a:r>
            <a:endParaRPr lang="en-US" sz="1400" dirty="0"/>
          </a:p>
          <a:p>
            <a:pPr algn="ctr" indent="0" marL="0">
              <a:buNone/>
            </a:pPr>
            <a:r>
              <a:rPr lang="en-US" sz="1100" dirty="0">
                <a:solidFill>
                  <a:srgbClr val="6B665E"/>
                </a:solidFill>
                <a:latin typeface="Calibri" pitchFamily="34" charset="0"/>
                <a:ea typeface="Calibri" pitchFamily="34" charset="-122"/>
                <a:cs typeface="Calibri" pitchFamily="34" charset="-120"/>
              </a:rPr>
              <a:t>confidence ≥ threshold?</a:t>
            </a:r>
            <a:endParaRPr lang="en-US" sz="1400" dirty="0"/>
          </a:p>
        </p:txBody>
      </p:sp>
      <p:sp>
        <p:nvSpPr>
          <p:cNvPr id="9" name="node-79"/>
          <p:cNvSpPr/>
          <p:nvPr/>
        </p:nvSpPr>
        <p:spPr>
          <a:xfrm>
            <a:off x="7543800" y="1417320"/>
            <a:ext cx="1965960" cy="1051560"/>
          </a:xfrm>
          <a:prstGeom prst="roundRect">
            <a:avLst>
              <a:gd name="adj" fmla="val 6957"/>
            </a:avLst>
          </a:prstGeom>
          <a:solidFill>
            <a:srgbClr val="F7EAD9"/>
          </a:solidFill>
          <a:ln w="15875">
            <a:solidFill>
              <a:srgbClr val="C2700A"/>
            </a:solidFill>
            <a:prstDash val="solid"/>
          </a:ln>
        </p:spPr>
      </p:sp>
      <p:sp>
        <p:nvSpPr>
          <p:cNvPr id="10" name="nodetext-80"/>
          <p:cNvSpPr txBox="1"/>
          <p:nvPr/>
        </p:nvSpPr>
        <p:spPr>
          <a:xfrm>
            <a:off x="7616952" y="1417320"/>
            <a:ext cx="1819656" cy="1051560"/>
          </a:xfrm>
          <a:prstGeom prst="rect">
            <a:avLst/>
          </a:prstGeom>
          <a:noFill/>
          <a:ln/>
        </p:spPr>
        <p:txBody>
          <a:bodyPr wrap="square" lIns="0" tIns="0" rIns="0" bIns="0" rtlCol="0" anchor="ctr"/>
          <a:lstStyle/>
          <a:p>
            <a:pPr algn="ctr" indent="0" marL="0">
              <a:buNone/>
            </a:pPr>
            <a:r>
              <a:rPr lang="en-US" sz="1400" b="1" dirty="0">
                <a:solidFill>
                  <a:srgbClr val="1F1D1A"/>
                </a:solidFill>
                <a:latin typeface="Calibri" pitchFamily="34" charset="0"/>
                <a:ea typeface="Calibri" pitchFamily="34" charset="-122"/>
                <a:cs typeface="Calibri" pitchFamily="34" charset="-120"/>
              </a:rPr>
              <a:t>Memory engine</a:t>
            </a:r>
            <a:endParaRPr lang="en-US" sz="1400" dirty="0"/>
          </a:p>
          <a:p>
            <a:pPr algn="ctr" indent="0" marL="0">
              <a:buNone/>
            </a:pPr>
            <a:r>
              <a:rPr lang="en-US" sz="1100" dirty="0">
                <a:solidFill>
                  <a:srgbClr val="6B665E"/>
                </a:solidFill>
                <a:latin typeface="Calibri" pitchFamily="34" charset="0"/>
                <a:ea typeface="Calibri" pitchFamily="34" charset="-122"/>
                <a:cs typeface="Calibri" pitchFamily="34" charset="-120"/>
              </a:rPr>
              <a:t>RAM frames + LRU eviction</a:t>
            </a:r>
            <a:endParaRPr lang="en-US" sz="1400" dirty="0"/>
          </a:p>
        </p:txBody>
      </p:sp>
      <p:sp>
        <p:nvSpPr>
          <p:cNvPr id="11" name="node-81"/>
          <p:cNvSpPr/>
          <p:nvPr/>
        </p:nvSpPr>
        <p:spPr>
          <a:xfrm>
            <a:off x="9875520" y="1417320"/>
            <a:ext cx="1965960" cy="1051560"/>
          </a:xfrm>
          <a:prstGeom prst="roundRect">
            <a:avLst>
              <a:gd name="adj" fmla="val 6957"/>
            </a:avLst>
          </a:prstGeom>
          <a:solidFill>
            <a:srgbClr val="F3F1ED"/>
          </a:solidFill>
          <a:ln w="15875">
            <a:solidFill>
              <a:srgbClr val="D6D2CA"/>
            </a:solidFill>
            <a:prstDash val="solid"/>
          </a:ln>
        </p:spPr>
      </p:sp>
      <p:sp>
        <p:nvSpPr>
          <p:cNvPr id="12" name="nodetext-82"/>
          <p:cNvSpPr txBox="1"/>
          <p:nvPr/>
        </p:nvSpPr>
        <p:spPr>
          <a:xfrm>
            <a:off x="9948672" y="1417320"/>
            <a:ext cx="1819656" cy="1051560"/>
          </a:xfrm>
          <a:prstGeom prst="rect">
            <a:avLst/>
          </a:prstGeom>
          <a:noFill/>
          <a:ln/>
        </p:spPr>
        <p:txBody>
          <a:bodyPr wrap="square" lIns="0" tIns="0" rIns="0" bIns="0" rtlCol="0" anchor="ctr"/>
          <a:lstStyle/>
          <a:p>
            <a:pPr algn="ctr" indent="0" marL="0">
              <a:buNone/>
            </a:pPr>
            <a:r>
              <a:rPr lang="en-US" sz="1400" b="1" dirty="0">
                <a:solidFill>
                  <a:srgbClr val="1F1D1A"/>
                </a:solidFill>
                <a:latin typeface="Calibri" pitchFamily="34" charset="0"/>
                <a:ea typeface="Calibri" pitchFamily="34" charset="-122"/>
                <a:cs typeface="Calibri" pitchFamily="34" charset="-120"/>
              </a:rPr>
              <a:t>Output</a:t>
            </a:r>
            <a:endParaRPr lang="en-US" sz="1400" dirty="0"/>
          </a:p>
          <a:p>
            <a:pPr algn="ctr" indent="0" marL="0">
              <a:buNone/>
            </a:pPr>
            <a:r>
              <a:rPr lang="en-US" sz="1100" dirty="0">
                <a:solidFill>
                  <a:srgbClr val="6B665E"/>
                </a:solidFill>
                <a:latin typeface="Calibri" pitchFamily="34" charset="0"/>
                <a:ea typeface="Calibri" pitchFamily="34" charset="-122"/>
                <a:cs typeface="Calibri" pitchFamily="34" charset="-120"/>
              </a:rPr>
              <a:t>faults, prefetches, used, wasted</a:t>
            </a:r>
            <a:endParaRPr lang="en-US" sz="1400" dirty="0"/>
          </a:p>
        </p:txBody>
      </p:sp>
      <p:sp>
        <p:nvSpPr>
          <p:cNvPr id="13" name="arrow-83"/>
          <p:cNvSpPr/>
          <p:nvPr/>
        </p:nvSpPr>
        <p:spPr>
          <a:xfrm>
            <a:off x="2551176" y="1943100"/>
            <a:ext cx="292608" cy="914"/>
          </a:xfrm>
          <a:prstGeom prst="line">
            <a:avLst/>
          </a:prstGeom>
          <a:noFill/>
          <a:ln w="19050">
            <a:solidFill>
              <a:srgbClr val="1F1D1A"/>
            </a:solidFill>
            <a:prstDash val="solid"/>
            <a:tailEnd type="triangle"/>
          </a:ln>
        </p:spPr>
      </p:sp>
      <p:sp>
        <p:nvSpPr>
          <p:cNvPr id="14" name="arrow-84"/>
          <p:cNvSpPr/>
          <p:nvPr/>
        </p:nvSpPr>
        <p:spPr>
          <a:xfrm>
            <a:off x="4882896" y="1943100"/>
            <a:ext cx="292608" cy="914"/>
          </a:xfrm>
          <a:prstGeom prst="line">
            <a:avLst/>
          </a:prstGeom>
          <a:noFill/>
          <a:ln w="19050">
            <a:solidFill>
              <a:srgbClr val="1F1D1A"/>
            </a:solidFill>
            <a:prstDash val="solid"/>
            <a:tailEnd type="triangle"/>
          </a:ln>
        </p:spPr>
      </p:sp>
      <p:sp>
        <p:nvSpPr>
          <p:cNvPr id="15" name="arrow-85"/>
          <p:cNvSpPr/>
          <p:nvPr/>
        </p:nvSpPr>
        <p:spPr>
          <a:xfrm>
            <a:off x="7214616" y="1943100"/>
            <a:ext cx="292608" cy="914"/>
          </a:xfrm>
          <a:prstGeom prst="line">
            <a:avLst/>
          </a:prstGeom>
          <a:noFill/>
          <a:ln w="19050">
            <a:solidFill>
              <a:srgbClr val="1F1D1A"/>
            </a:solidFill>
            <a:prstDash val="solid"/>
            <a:tailEnd type="triangle"/>
          </a:ln>
        </p:spPr>
      </p:sp>
      <p:sp>
        <p:nvSpPr>
          <p:cNvPr id="16" name="arrow-86"/>
          <p:cNvSpPr/>
          <p:nvPr/>
        </p:nvSpPr>
        <p:spPr>
          <a:xfrm>
            <a:off x="9546336" y="1943100"/>
            <a:ext cx="292608" cy="914"/>
          </a:xfrm>
          <a:prstGeom prst="line">
            <a:avLst/>
          </a:prstGeom>
          <a:noFill/>
          <a:ln w="19050">
            <a:solidFill>
              <a:srgbClr val="1F1D1A"/>
            </a:solidFill>
            <a:prstDash val="solid"/>
            <a:tailEnd type="triangle"/>
          </a:ln>
        </p:spPr>
      </p:sp>
      <p:sp>
        <p:nvSpPr>
          <p:cNvPr id="17" name="node-87"/>
          <p:cNvSpPr/>
          <p:nvPr/>
        </p:nvSpPr>
        <p:spPr>
          <a:xfrm>
            <a:off x="7543800" y="3794760"/>
            <a:ext cx="1965960" cy="1051560"/>
          </a:xfrm>
          <a:prstGeom prst="roundRect">
            <a:avLst>
              <a:gd name="adj" fmla="val 6957"/>
            </a:avLst>
          </a:prstGeom>
          <a:solidFill>
            <a:srgbClr val="F3F1ED"/>
          </a:solidFill>
          <a:ln w="15875">
            <a:solidFill>
              <a:srgbClr val="D6D2CA"/>
            </a:solidFill>
            <a:prstDash val="solid"/>
          </a:ln>
        </p:spPr>
      </p:sp>
      <p:sp>
        <p:nvSpPr>
          <p:cNvPr id="18" name="nodetext-88"/>
          <p:cNvSpPr txBox="1"/>
          <p:nvPr/>
        </p:nvSpPr>
        <p:spPr>
          <a:xfrm>
            <a:off x="7616952" y="3794760"/>
            <a:ext cx="1819656" cy="1051560"/>
          </a:xfrm>
          <a:prstGeom prst="rect">
            <a:avLst/>
          </a:prstGeom>
          <a:noFill/>
          <a:ln/>
        </p:spPr>
        <p:txBody>
          <a:bodyPr wrap="square" lIns="0" tIns="0" rIns="0" bIns="0" rtlCol="0" anchor="ctr"/>
          <a:lstStyle/>
          <a:p>
            <a:pPr algn="ctr" indent="0" marL="0">
              <a:buNone/>
            </a:pPr>
            <a:r>
              <a:rPr lang="en-US" sz="1400" b="1" dirty="0">
                <a:solidFill>
                  <a:srgbClr val="1F1D1A"/>
                </a:solidFill>
                <a:latin typeface="Calibri" pitchFamily="34" charset="0"/>
                <a:ea typeface="Calibri" pitchFamily="34" charset="-122"/>
                <a:cs typeface="Calibri" pitchFamily="34" charset="-120"/>
              </a:rPr>
              <a:t>Shadow directory</a:t>
            </a:r>
            <a:endParaRPr lang="en-US" sz="1400" dirty="0"/>
          </a:p>
          <a:p>
            <a:pPr algn="ctr" indent="0" marL="0">
              <a:buNone/>
            </a:pPr>
            <a:r>
              <a:rPr lang="en-US" sz="1100" dirty="0">
                <a:solidFill>
                  <a:srgbClr val="6B665E"/>
                </a:solidFill>
                <a:latin typeface="Calibri" pitchFamily="34" charset="0"/>
                <a:ea typeface="Calibri" pitchFamily="34" charset="-122"/>
                <a:cs typeface="Calibri" pitchFamily="34" charset="-120"/>
              </a:rPr>
              <a:t>no-prefetch copy, page IDs only</a:t>
            </a:r>
            <a:endParaRPr lang="en-US" sz="1400" dirty="0"/>
          </a:p>
        </p:txBody>
      </p:sp>
      <p:sp>
        <p:nvSpPr>
          <p:cNvPr id="19" name="node-89"/>
          <p:cNvSpPr/>
          <p:nvPr/>
        </p:nvSpPr>
        <p:spPr>
          <a:xfrm>
            <a:off x="5212080" y="3794760"/>
            <a:ext cx="1965960" cy="1051560"/>
          </a:xfrm>
          <a:prstGeom prst="roundRect">
            <a:avLst>
              <a:gd name="adj" fmla="val 6957"/>
            </a:avLst>
          </a:prstGeom>
          <a:solidFill>
            <a:srgbClr val="F3F1ED"/>
          </a:solidFill>
          <a:ln w="15875">
            <a:solidFill>
              <a:srgbClr val="D6D2CA"/>
            </a:solidFill>
            <a:prstDash val="solid"/>
          </a:ln>
        </p:spPr>
      </p:sp>
      <p:sp>
        <p:nvSpPr>
          <p:cNvPr id="20" name="nodetext-90"/>
          <p:cNvSpPr txBox="1"/>
          <p:nvPr/>
        </p:nvSpPr>
        <p:spPr>
          <a:xfrm>
            <a:off x="5285232" y="3794760"/>
            <a:ext cx="1819656" cy="1051560"/>
          </a:xfrm>
          <a:prstGeom prst="rect">
            <a:avLst/>
          </a:prstGeom>
          <a:noFill/>
          <a:ln/>
        </p:spPr>
        <p:txBody>
          <a:bodyPr wrap="square" lIns="0" tIns="0" rIns="0" bIns="0" rtlCol="0" anchor="ctr"/>
          <a:lstStyle/>
          <a:p>
            <a:pPr algn="ctr" indent="0" marL="0">
              <a:buNone/>
            </a:pPr>
            <a:r>
              <a:rPr lang="en-US" sz="1400" b="1" dirty="0">
                <a:solidFill>
                  <a:srgbClr val="1F1D1A"/>
                </a:solidFill>
                <a:latin typeface="Calibri" pitchFamily="34" charset="0"/>
                <a:ea typeface="Calibri" pitchFamily="34" charset="-122"/>
                <a:cs typeface="Calibri" pitchFamily="34" charset="-120"/>
              </a:rPr>
              <a:t>Feedback controller</a:t>
            </a:r>
            <a:endParaRPr lang="en-US" sz="1400" dirty="0"/>
          </a:p>
          <a:p>
            <a:pPr algn="ctr" indent="0" marL="0">
              <a:buNone/>
            </a:pPr>
            <a:r>
              <a:rPr lang="en-US" sz="1100" dirty="0">
                <a:solidFill>
                  <a:srgbClr val="6B665E"/>
                </a:solidFill>
                <a:latin typeface="Calibri" pitchFamily="34" charset="0"/>
                <a:ea typeface="Calibri" pitchFamily="34" charset="-122"/>
                <a:cs typeface="Calibri" pitchFamily="34" charset="-120"/>
              </a:rPr>
              <a:t>every 1,000 requests</a:t>
            </a:r>
            <a:endParaRPr lang="en-US" sz="1400" dirty="0"/>
          </a:p>
        </p:txBody>
      </p:sp>
      <p:sp>
        <p:nvSpPr>
          <p:cNvPr id="21" name="node-91"/>
          <p:cNvSpPr/>
          <p:nvPr/>
        </p:nvSpPr>
        <p:spPr>
          <a:xfrm>
            <a:off x="9875520" y="3794760"/>
            <a:ext cx="1965960" cy="1051560"/>
          </a:xfrm>
          <a:prstGeom prst="roundRect">
            <a:avLst>
              <a:gd name="adj" fmla="val 6957"/>
            </a:avLst>
          </a:prstGeom>
          <a:solidFill>
            <a:srgbClr val="F3F1ED"/>
          </a:solidFill>
          <a:ln w="15875">
            <a:solidFill>
              <a:srgbClr val="D6D2CA"/>
            </a:solidFill>
            <a:prstDash val="solid"/>
          </a:ln>
        </p:spPr>
      </p:sp>
      <p:sp>
        <p:nvSpPr>
          <p:cNvPr id="22" name="nodetext-92"/>
          <p:cNvSpPr txBox="1"/>
          <p:nvPr/>
        </p:nvSpPr>
        <p:spPr>
          <a:xfrm>
            <a:off x="9948672" y="3794760"/>
            <a:ext cx="1819656" cy="1051560"/>
          </a:xfrm>
          <a:prstGeom prst="rect">
            <a:avLst/>
          </a:prstGeom>
          <a:noFill/>
          <a:ln/>
        </p:spPr>
        <p:txBody>
          <a:bodyPr wrap="square" lIns="0" tIns="0" rIns="0" bIns="0" rtlCol="0" anchor="ctr"/>
          <a:lstStyle/>
          <a:p>
            <a:pPr algn="ctr" indent="0" marL="0">
              <a:buNone/>
            </a:pPr>
            <a:r>
              <a:rPr lang="en-US" sz="1400" b="1" dirty="0">
                <a:solidFill>
                  <a:srgbClr val="1F1D1A"/>
                </a:solidFill>
                <a:latin typeface="Calibri" pitchFamily="34" charset="0"/>
                <a:ea typeface="Calibri" pitchFamily="34" charset="-122"/>
                <a:cs typeface="Calibri" pitchFamily="34" charset="-120"/>
              </a:rPr>
              <a:t>Time model</a:t>
            </a:r>
            <a:endParaRPr lang="en-US" sz="1400" dirty="0"/>
          </a:p>
          <a:p>
            <a:pPr algn="ctr" indent="0" marL="0">
              <a:buNone/>
            </a:pPr>
            <a:r>
              <a:rPr lang="en-US" sz="1100" dirty="0">
                <a:solidFill>
                  <a:srgbClr val="6B665E"/>
                </a:solidFill>
                <a:latin typeface="Calibri" pitchFamily="34" charset="0"/>
                <a:ea typeface="Calibri" pitchFamily="34" charset="-122"/>
                <a:cs typeface="Calibri" pitchFamily="34" charset="-120"/>
              </a:rPr>
              <a:t>event log → estimated time</a:t>
            </a:r>
            <a:endParaRPr lang="en-US" sz="1400" dirty="0"/>
          </a:p>
        </p:txBody>
      </p:sp>
      <p:sp>
        <p:nvSpPr>
          <p:cNvPr id="23" name="arrow-93"/>
          <p:cNvSpPr/>
          <p:nvPr/>
        </p:nvSpPr>
        <p:spPr>
          <a:xfrm>
            <a:off x="8526780" y="2505456"/>
            <a:ext cx="914" cy="1252728"/>
          </a:xfrm>
          <a:prstGeom prst="line">
            <a:avLst/>
          </a:prstGeom>
          <a:noFill/>
          <a:ln w="19050">
            <a:solidFill>
              <a:srgbClr val="1F1D1A"/>
            </a:solidFill>
            <a:prstDash val="solid"/>
            <a:tailEnd type="triangle"/>
          </a:ln>
        </p:spPr>
      </p:sp>
      <p:sp>
        <p:nvSpPr>
          <p:cNvPr id="24" name="arrow-94"/>
          <p:cNvSpPr/>
          <p:nvPr/>
        </p:nvSpPr>
        <p:spPr>
          <a:xfrm flipH="1">
            <a:off x="7214616" y="4320540"/>
            <a:ext cx="292608" cy="914"/>
          </a:xfrm>
          <a:prstGeom prst="line">
            <a:avLst/>
          </a:prstGeom>
          <a:noFill/>
          <a:ln w="19050">
            <a:solidFill>
              <a:srgbClr val="C2700A"/>
            </a:solidFill>
            <a:prstDash val="solid"/>
            <a:tailEnd type="triangle"/>
          </a:ln>
        </p:spPr>
      </p:sp>
      <p:sp>
        <p:nvSpPr>
          <p:cNvPr id="25" name="arrow-95"/>
          <p:cNvSpPr/>
          <p:nvPr/>
        </p:nvSpPr>
        <p:spPr>
          <a:xfrm flipV="1">
            <a:off x="6195060" y="2505456"/>
            <a:ext cx="914" cy="1252728"/>
          </a:xfrm>
          <a:prstGeom prst="line">
            <a:avLst/>
          </a:prstGeom>
          <a:noFill/>
          <a:ln w="19050">
            <a:solidFill>
              <a:srgbClr val="C2700A"/>
            </a:solidFill>
            <a:prstDash val="solid"/>
            <a:tailEnd type="triangle"/>
          </a:ln>
        </p:spPr>
      </p:sp>
      <p:sp>
        <p:nvSpPr>
          <p:cNvPr id="26" name="arrow-96"/>
          <p:cNvSpPr/>
          <p:nvPr/>
        </p:nvSpPr>
        <p:spPr>
          <a:xfrm>
            <a:off x="9546336" y="2377440"/>
            <a:ext cx="603504" cy="1380744"/>
          </a:xfrm>
          <a:prstGeom prst="line">
            <a:avLst/>
          </a:prstGeom>
          <a:noFill/>
          <a:ln w="19050">
            <a:solidFill>
              <a:srgbClr val="1F1D1A"/>
            </a:solidFill>
            <a:prstDash val="solid"/>
            <a:tailEnd type="triangle"/>
          </a:ln>
        </p:spPr>
      </p:sp>
      <p:sp>
        <p:nvSpPr>
          <p:cNvPr id="27" name="text-97"/>
          <p:cNvSpPr txBox="1"/>
          <p:nvPr/>
        </p:nvSpPr>
        <p:spPr>
          <a:xfrm>
            <a:off x="8618220" y="2788920"/>
            <a:ext cx="1463040" cy="274320"/>
          </a:xfrm>
          <a:prstGeom prst="rect">
            <a:avLst/>
          </a:prstGeom>
          <a:noFill/>
          <a:ln/>
        </p:spPr>
        <p:txBody>
          <a:bodyPr wrap="square" lIns="0" tIns="0" rIns="0" bIns="0" rtlCol="0" anchor="t"/>
          <a:lstStyle/>
          <a:p>
            <a:pPr indent="0" marL="0">
              <a:buNone/>
            </a:pPr>
            <a:r>
              <a:rPr lang="en-US" sz="1100" i="1" dirty="0">
                <a:solidFill>
                  <a:schemeClr val="accent2"/>
                </a:solidFill>
                <a:latin typeface="Calibri" pitchFamily="34" charset="0"/>
                <a:ea typeface="Calibri" pitchFamily="34" charset="-122"/>
                <a:cs typeface="Calibri" pitchFamily="34" charset="-120"/>
              </a:rPr>
              <a:t>same requests</a:t>
            </a:r>
            <a:endParaRPr lang="en-US" sz="1100" dirty="0"/>
          </a:p>
        </p:txBody>
      </p:sp>
      <p:sp>
        <p:nvSpPr>
          <p:cNvPr id="28" name="text-98"/>
          <p:cNvSpPr txBox="1"/>
          <p:nvPr/>
        </p:nvSpPr>
        <p:spPr>
          <a:xfrm>
            <a:off x="6995160" y="4919472"/>
            <a:ext cx="914400" cy="274320"/>
          </a:xfrm>
          <a:prstGeom prst="rect">
            <a:avLst/>
          </a:prstGeom>
          <a:noFill/>
          <a:ln/>
        </p:spPr>
        <p:txBody>
          <a:bodyPr wrap="square" lIns="0" tIns="0" rIns="0" bIns="0" rtlCol="0" anchor="t"/>
          <a:lstStyle/>
          <a:p>
            <a:pPr algn="ctr" indent="0" marL="0">
              <a:buNone/>
            </a:pPr>
            <a:r>
              <a:rPr lang="en-US" sz="1100" i="1" dirty="0">
                <a:solidFill>
                  <a:schemeClr val="accent1"/>
                </a:solidFill>
                <a:latin typeface="Calibri" pitchFamily="34" charset="0"/>
                <a:ea typeface="Calibri" pitchFamily="34" charset="-122"/>
                <a:cs typeface="Calibri" pitchFamily="34" charset="-120"/>
              </a:rPr>
              <a:t>fault delta</a:t>
            </a:r>
            <a:endParaRPr lang="en-US" sz="1100" dirty="0"/>
          </a:p>
        </p:txBody>
      </p:sp>
      <p:sp>
        <p:nvSpPr>
          <p:cNvPr id="29" name="text-99"/>
          <p:cNvSpPr txBox="1"/>
          <p:nvPr/>
        </p:nvSpPr>
        <p:spPr>
          <a:xfrm>
            <a:off x="6286500" y="2788920"/>
            <a:ext cx="1371600" cy="274320"/>
          </a:xfrm>
          <a:prstGeom prst="rect">
            <a:avLst/>
          </a:prstGeom>
          <a:noFill/>
          <a:ln/>
        </p:spPr>
        <p:txBody>
          <a:bodyPr wrap="square" lIns="0" tIns="0" rIns="0" bIns="0" rtlCol="0" anchor="t"/>
          <a:lstStyle/>
          <a:p>
            <a:pPr indent="0" marL="0">
              <a:buNone/>
            </a:pPr>
            <a:r>
              <a:rPr lang="en-US" sz="1100" i="1" dirty="0">
                <a:solidFill>
                  <a:schemeClr val="accent1"/>
                </a:solidFill>
                <a:latin typeface="Calibri" pitchFamily="34" charset="0"/>
                <a:ea typeface="Calibri" pitchFamily="34" charset="-122"/>
                <a:cs typeface="Calibri" pitchFamily="34" charset="-120"/>
              </a:rPr>
              <a:t>new threshold</a:t>
            </a:r>
            <a:endParaRPr lang="en-US" sz="1100" dirty="0"/>
          </a:p>
        </p:txBody>
      </p:sp>
      <p:sp>
        <p:nvSpPr>
          <p:cNvPr id="30" name="text-100"/>
          <p:cNvSpPr txBox="1"/>
          <p:nvPr/>
        </p:nvSpPr>
        <p:spPr>
          <a:xfrm>
            <a:off x="10378440" y="2788920"/>
            <a:ext cx="1097280" cy="274320"/>
          </a:xfrm>
          <a:prstGeom prst="rect">
            <a:avLst/>
          </a:prstGeom>
          <a:noFill/>
          <a:ln/>
        </p:spPr>
        <p:txBody>
          <a:bodyPr wrap="square" lIns="0" tIns="0" rIns="0" bIns="0" rtlCol="0" anchor="t"/>
          <a:lstStyle/>
          <a:p>
            <a:pPr indent="0" marL="0">
              <a:buNone/>
            </a:pPr>
            <a:r>
              <a:rPr lang="en-US" sz="1100" i="1" dirty="0">
                <a:solidFill>
                  <a:schemeClr val="accent2"/>
                </a:solidFill>
                <a:latin typeface="Calibri" pitchFamily="34" charset="0"/>
                <a:ea typeface="Calibri" pitchFamily="34" charset="-122"/>
                <a:cs typeface="Calibri" pitchFamily="34" charset="-120"/>
              </a:rPr>
              <a:t>event log</a:t>
            </a:r>
            <a:endParaRPr lang="en-US" sz="1100" dirty="0"/>
          </a:p>
        </p:txBody>
      </p:sp>
      <p:sp>
        <p:nvSpPr>
          <p:cNvPr id="31" name="card-101"/>
          <p:cNvSpPr/>
          <p:nvPr/>
        </p:nvSpPr>
        <p:spPr>
          <a:xfrm>
            <a:off x="548640" y="3794760"/>
            <a:ext cx="3977640" cy="1783080"/>
          </a:xfrm>
          <a:prstGeom prst="roundRect">
            <a:avLst>
              <a:gd name="adj" fmla="val 4103"/>
            </a:avLst>
          </a:prstGeom>
          <a:solidFill>
            <a:schemeClr val="bg2"/>
          </a:solidFill>
          <a:ln w="12700">
            <a:solidFill>
              <a:schemeClr val="bg2"/>
            </a:solidFill>
            <a:prstDash val="solid"/>
          </a:ln>
        </p:spPr>
      </p:sp>
      <p:sp>
        <p:nvSpPr>
          <p:cNvPr id="32" name="text-102"/>
          <p:cNvSpPr txBox="1"/>
          <p:nvPr/>
        </p:nvSpPr>
        <p:spPr>
          <a:xfrm>
            <a:off x="777240" y="3931920"/>
            <a:ext cx="3566160" cy="160020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latin typeface="Calibri" pitchFamily="34" charset="0"/>
                <a:ea typeface="Calibri" pitchFamily="34" charset="-122"/>
                <a:cs typeface="Calibri" pitchFamily="34" charset="-120"/>
              </a:rPr>
              <a:t>Data</a:t>
            </a:r>
            <a:endParaRPr lang="en-US" sz="1500" dirty="0"/>
          </a:p>
          <a:p>
            <a:pPr indent="0" marL="0">
              <a:spcAft>
                <a:spcPts val="400"/>
              </a:spcAft>
              <a:buNone/>
            </a:pPr>
            <a:r>
              <a:rPr lang="en-US" sz="1200" dirty="0">
                <a:solidFill>
                  <a:schemeClr val="accent2"/>
                </a:solidFill>
                <a:latin typeface="Calibri" pitchFamily="34" charset="0"/>
                <a:ea typeface="Calibri" pitchFamily="34" charset="-122"/>
                <a:cs typeface="Calibri" pitchFamily="34" charset="-120"/>
              </a:rPr>
              <a:t>22 real traces: ML-DPC LoadTraces (SPEC CPU 2006 + GAP graphs), 200,000 requests each; addresses → 4 KB pages</a:t>
            </a:r>
            <a:endParaRPr lang="en-US" sz="1500" dirty="0"/>
          </a:p>
          <a:p>
            <a:pPr indent="0" marL="0">
              <a:spcAft>
                <a:spcPts val="400"/>
              </a:spcAft>
              <a:buNone/>
            </a:pPr>
            <a:r>
              <a:rPr lang="en-US" sz="1200" dirty="0">
                <a:solidFill>
                  <a:schemeClr val="accent2"/>
                </a:solidFill>
                <a:latin typeface="Calibri" pitchFamily="34" charset="0"/>
                <a:ea typeface="Calibri" pitchFamily="34" charset="-122"/>
                <a:cs typeface="Calibri" pitchFamily="34" charset="-120"/>
              </a:rPr>
              <a:t>6 synthetic traces with known answers (correctness tests)</a:t>
            </a:r>
            <a:endParaRPr lang="en-US" sz="1500" dirty="0"/>
          </a:p>
          <a:p>
            <a:pPr indent="0" marL="0">
              <a:spcAft>
                <a:spcPts val="400"/>
              </a:spcAft>
              <a:buNone/>
            </a:pPr>
            <a:r>
              <a:rPr lang="en-US" sz="1200" dirty="0">
                <a:solidFill>
                  <a:schemeClr val="accent2"/>
                </a:solidFill>
                <a:latin typeface="Calibri" pitchFamily="34" charset="0"/>
                <a:ea typeface="Calibri" pitchFamily="34" charset="-122"/>
                <a:cs typeface="Calibri" pitchFamily="34" charset="-120"/>
              </a:rPr>
              <a:t>RAM = 1% or 5% of each program’s working set</a:t>
            </a:r>
            <a:endParaRPr lang="en-US" sz="1500" dirty="0"/>
          </a:p>
        </p:txBody>
      </p:sp>
      <p:sp>
        <p:nvSpPr>
          <p:cNvPr id="33" name="text-103"/>
          <p:cNvSpPr txBox="1"/>
          <p:nvPr/>
        </p:nvSpPr>
        <p:spPr>
          <a:xfrm>
            <a:off x="5212080" y="5349240"/>
            <a:ext cx="6446520" cy="640080"/>
          </a:xfrm>
          <a:prstGeom prst="rect">
            <a:avLst/>
          </a:prstGeom>
          <a:noFill/>
          <a:ln/>
        </p:spPr>
        <p:txBody>
          <a:bodyPr wrap="square" lIns="0" tIns="0" rIns="0" bIns="0" rtlCol="0" anchor="t"/>
          <a:lstStyle/>
          <a:p>
            <a:pPr indent="0" marL="0">
              <a:buNone/>
            </a:pPr>
            <a:r>
              <a:rPr lang="en-US" sz="1200" i="1" dirty="0">
                <a:solidFill>
                  <a:schemeClr val="accent2"/>
                </a:solidFill>
                <a:latin typeface="Calibri" pitchFamily="34" charset="0"/>
                <a:ea typeface="Calibri" pitchFamily="34" charset="-122"/>
                <a:cs typeface="Calibri" pitchFamily="34" charset="-120"/>
              </a:rPr>
              <a:t>Implemented as paging.final.run_final. Prefetched pages enter RAM only through the same install path as demand faults.</a:t>
            </a:r>
            <a:endParaRPr lang="en-US" sz="12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Core logic: three rules decide every prefetch</a:t>
            </a:r>
            <a:endParaRPr lang="en-US" sz="3000" dirty="0"/>
          </a:p>
        </p:txBody>
      </p:sp>
      <p:sp>
        <p:nvSpPr>
          <p:cNvPr id="3" name="text-104"/>
          <p:cNvSpPr txBox="1"/>
          <p:nvPr/>
        </p:nvSpPr>
        <p:spPr>
          <a:xfrm>
            <a:off x="548640" y="1188720"/>
            <a:ext cx="35661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Per request</a:t>
            </a:r>
            <a:endParaRPr lang="en-US" sz="1700" dirty="0"/>
          </a:p>
        </p:txBody>
      </p:sp>
      <p:sp>
        <p:nvSpPr>
          <p:cNvPr id="4" name="chip-105"/>
          <p:cNvSpPr/>
          <p:nvPr/>
        </p:nvSpPr>
        <p:spPr>
          <a:xfrm>
            <a:off x="548640" y="1691640"/>
            <a:ext cx="365760" cy="365760"/>
          </a:xfrm>
          <a:prstGeom prst="roundRect">
            <a:avLst>
              <a:gd name="adj" fmla="val 15000"/>
            </a:avLst>
          </a:prstGeom>
          <a:solidFill>
            <a:schemeClr val="bg1"/>
          </a:solidFill>
          <a:ln w="12700">
            <a:solidFill>
              <a:schemeClr val="accent3"/>
            </a:solidFill>
            <a:prstDash val="solid"/>
          </a:ln>
        </p:spPr>
      </p:sp>
      <p:sp>
        <p:nvSpPr>
          <p:cNvPr id="5" name="chiplabel-106"/>
          <p:cNvSpPr txBox="1"/>
          <p:nvPr/>
        </p:nvSpPr>
        <p:spPr>
          <a:xfrm>
            <a:off x="548640" y="169164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1</a:t>
            </a:r>
            <a:endParaRPr lang="en-US" sz="1400" dirty="0"/>
          </a:p>
        </p:txBody>
      </p:sp>
      <p:sp>
        <p:nvSpPr>
          <p:cNvPr id="6" name="text-107"/>
          <p:cNvSpPr txBox="1"/>
          <p:nvPr/>
        </p:nvSpPr>
        <p:spPr>
          <a:xfrm>
            <a:off x="1051560" y="1709928"/>
            <a:ext cx="310896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Access page; on a fault, LRU evicts if RAM is full</a:t>
            </a:r>
            <a:endParaRPr lang="en-US" sz="1300" dirty="0"/>
          </a:p>
        </p:txBody>
      </p:sp>
      <p:sp>
        <p:nvSpPr>
          <p:cNvPr id="7" name="chip-108"/>
          <p:cNvSpPr/>
          <p:nvPr/>
        </p:nvSpPr>
        <p:spPr>
          <a:xfrm>
            <a:off x="548640" y="2350008"/>
            <a:ext cx="365760" cy="365760"/>
          </a:xfrm>
          <a:prstGeom prst="roundRect">
            <a:avLst>
              <a:gd name="adj" fmla="val 15000"/>
            </a:avLst>
          </a:prstGeom>
          <a:solidFill>
            <a:schemeClr val="bg1"/>
          </a:solidFill>
          <a:ln w="12700">
            <a:solidFill>
              <a:schemeClr val="accent3"/>
            </a:solidFill>
            <a:prstDash val="solid"/>
          </a:ln>
        </p:spPr>
      </p:sp>
      <p:sp>
        <p:nvSpPr>
          <p:cNvPr id="8" name="chiplabel-109"/>
          <p:cNvSpPr txBox="1"/>
          <p:nvPr/>
        </p:nvSpPr>
        <p:spPr>
          <a:xfrm>
            <a:off x="548640" y="2350008"/>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2</a:t>
            </a:r>
            <a:endParaRPr lang="en-US" sz="1400" dirty="0"/>
          </a:p>
        </p:txBody>
      </p:sp>
      <p:sp>
        <p:nvSpPr>
          <p:cNvPr id="9" name="text-110"/>
          <p:cNvSpPr txBox="1"/>
          <p:nvPr/>
        </p:nvSpPr>
        <p:spPr>
          <a:xfrm>
            <a:off x="1051560" y="2368296"/>
            <a:ext cx="310896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Predictor learns the transition just seen</a:t>
            </a:r>
            <a:endParaRPr lang="en-US" sz="1300" dirty="0"/>
          </a:p>
        </p:txBody>
      </p:sp>
      <p:sp>
        <p:nvSpPr>
          <p:cNvPr id="10" name="chip-111"/>
          <p:cNvSpPr/>
          <p:nvPr/>
        </p:nvSpPr>
        <p:spPr>
          <a:xfrm>
            <a:off x="548640" y="3008376"/>
            <a:ext cx="365760" cy="365760"/>
          </a:xfrm>
          <a:prstGeom prst="roundRect">
            <a:avLst>
              <a:gd name="adj" fmla="val 15000"/>
            </a:avLst>
          </a:prstGeom>
          <a:solidFill>
            <a:schemeClr val="accent1"/>
          </a:solidFill>
          <a:ln w="12700">
            <a:solidFill>
              <a:schemeClr val="accent1"/>
            </a:solidFill>
            <a:prstDash val="solid"/>
          </a:ln>
        </p:spPr>
      </p:sp>
      <p:sp>
        <p:nvSpPr>
          <p:cNvPr id="11" name="chiplabel-112"/>
          <p:cNvSpPr txBox="1"/>
          <p:nvPr/>
        </p:nvSpPr>
        <p:spPr>
          <a:xfrm>
            <a:off x="548640" y="300837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2" name="text-113"/>
          <p:cNvSpPr txBox="1"/>
          <p:nvPr/>
        </p:nvSpPr>
        <p:spPr>
          <a:xfrm>
            <a:off x="1051560" y="3026664"/>
            <a:ext cx="310896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Every 1,000 requests: update the threshold</a:t>
            </a:r>
            <a:endParaRPr lang="en-US" sz="1300" dirty="0"/>
          </a:p>
        </p:txBody>
      </p:sp>
      <p:sp>
        <p:nvSpPr>
          <p:cNvPr id="13" name="chip-114"/>
          <p:cNvSpPr/>
          <p:nvPr/>
        </p:nvSpPr>
        <p:spPr>
          <a:xfrm>
            <a:off x="548640" y="3666744"/>
            <a:ext cx="365760" cy="365760"/>
          </a:xfrm>
          <a:prstGeom prst="roundRect">
            <a:avLst>
              <a:gd name="adj" fmla="val 15000"/>
            </a:avLst>
          </a:prstGeom>
          <a:solidFill>
            <a:schemeClr val="bg1"/>
          </a:solidFill>
          <a:ln w="12700">
            <a:solidFill>
              <a:schemeClr val="accent3"/>
            </a:solidFill>
            <a:prstDash val="solid"/>
          </a:ln>
        </p:spPr>
      </p:sp>
      <p:sp>
        <p:nvSpPr>
          <p:cNvPr id="14" name="chiplabel-115"/>
          <p:cNvSpPr txBox="1"/>
          <p:nvPr/>
        </p:nvSpPr>
        <p:spPr>
          <a:xfrm>
            <a:off x="548640" y="3666744"/>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4</a:t>
            </a:r>
            <a:endParaRPr lang="en-US" sz="1400" dirty="0"/>
          </a:p>
        </p:txBody>
      </p:sp>
      <p:sp>
        <p:nvSpPr>
          <p:cNvPr id="15" name="text-116"/>
          <p:cNvSpPr txBox="1"/>
          <p:nvPr/>
        </p:nvSpPr>
        <p:spPr>
          <a:xfrm>
            <a:off x="1051560" y="3685032"/>
            <a:ext cx="310896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Predictor proposes candidate pages</a:t>
            </a:r>
            <a:endParaRPr lang="en-US" sz="1300" dirty="0"/>
          </a:p>
        </p:txBody>
      </p:sp>
      <p:sp>
        <p:nvSpPr>
          <p:cNvPr id="16" name="chip-117"/>
          <p:cNvSpPr/>
          <p:nvPr/>
        </p:nvSpPr>
        <p:spPr>
          <a:xfrm>
            <a:off x="548640" y="4325112"/>
            <a:ext cx="365760" cy="365760"/>
          </a:xfrm>
          <a:prstGeom prst="roundRect">
            <a:avLst>
              <a:gd name="adj" fmla="val 15000"/>
            </a:avLst>
          </a:prstGeom>
          <a:solidFill>
            <a:schemeClr val="bg1"/>
          </a:solidFill>
          <a:ln w="12700">
            <a:solidFill>
              <a:schemeClr val="accent3"/>
            </a:solidFill>
            <a:prstDash val="solid"/>
          </a:ln>
        </p:spPr>
      </p:sp>
      <p:sp>
        <p:nvSpPr>
          <p:cNvPr id="17" name="chiplabel-118"/>
          <p:cNvSpPr txBox="1"/>
          <p:nvPr/>
        </p:nvSpPr>
        <p:spPr>
          <a:xfrm>
            <a:off x="548640" y="4325112"/>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5</a:t>
            </a:r>
            <a:endParaRPr lang="en-US" sz="1400" dirty="0"/>
          </a:p>
        </p:txBody>
      </p:sp>
      <p:sp>
        <p:nvSpPr>
          <p:cNvPr id="18" name="text-119"/>
          <p:cNvSpPr txBox="1"/>
          <p:nvPr/>
        </p:nvSpPr>
        <p:spPr>
          <a:xfrm>
            <a:off x="1051560" y="4343400"/>
            <a:ext cx="310896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Skip candidates already in RAM</a:t>
            </a:r>
            <a:endParaRPr lang="en-US" sz="1300" dirty="0"/>
          </a:p>
        </p:txBody>
      </p:sp>
      <p:sp>
        <p:nvSpPr>
          <p:cNvPr id="19" name="chip-120"/>
          <p:cNvSpPr/>
          <p:nvPr/>
        </p:nvSpPr>
        <p:spPr>
          <a:xfrm>
            <a:off x="548640" y="4983480"/>
            <a:ext cx="365760" cy="365760"/>
          </a:xfrm>
          <a:prstGeom prst="roundRect">
            <a:avLst>
              <a:gd name="adj" fmla="val 15000"/>
            </a:avLst>
          </a:prstGeom>
          <a:solidFill>
            <a:schemeClr val="accent1"/>
          </a:solidFill>
          <a:ln w="12700">
            <a:solidFill>
              <a:schemeClr val="accent1"/>
            </a:solidFill>
            <a:prstDash val="solid"/>
          </a:ln>
        </p:spPr>
      </p:sp>
      <p:sp>
        <p:nvSpPr>
          <p:cNvPr id="20" name="chiplabel-121"/>
          <p:cNvSpPr txBox="1"/>
          <p:nvPr/>
        </p:nvSpPr>
        <p:spPr>
          <a:xfrm>
            <a:off x="548640" y="49834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6</a:t>
            </a:r>
            <a:endParaRPr lang="en-US" sz="1400" dirty="0"/>
          </a:p>
        </p:txBody>
      </p:sp>
      <p:sp>
        <p:nvSpPr>
          <p:cNvPr id="21" name="text-122"/>
          <p:cNvSpPr txBox="1"/>
          <p:nvPr/>
        </p:nvSpPr>
        <p:spPr>
          <a:xfrm>
            <a:off x="1051560" y="5001768"/>
            <a:ext cx="310896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Decision rule: prefetch or not</a:t>
            </a:r>
            <a:endParaRPr lang="en-US" sz="1300" dirty="0"/>
          </a:p>
        </p:txBody>
      </p:sp>
      <p:sp>
        <p:nvSpPr>
          <p:cNvPr id="22" name="card-123"/>
          <p:cNvSpPr/>
          <p:nvPr/>
        </p:nvSpPr>
        <p:spPr>
          <a:xfrm>
            <a:off x="4480560" y="1188720"/>
            <a:ext cx="2240280" cy="2971800"/>
          </a:xfrm>
          <a:prstGeom prst="roundRect">
            <a:avLst>
              <a:gd name="adj" fmla="val 3265"/>
            </a:avLst>
          </a:prstGeom>
          <a:solidFill>
            <a:schemeClr val="bg2"/>
          </a:solidFill>
          <a:ln w="12700">
            <a:solidFill>
              <a:schemeClr val="bg2"/>
            </a:solidFill>
            <a:prstDash val="solid"/>
          </a:ln>
        </p:spPr>
      </p:sp>
      <p:sp>
        <p:nvSpPr>
          <p:cNvPr id="23" name="text-124"/>
          <p:cNvSpPr txBox="1"/>
          <p:nvPr/>
        </p:nvSpPr>
        <p:spPr>
          <a:xfrm>
            <a:off x="4645152" y="1325880"/>
            <a:ext cx="1911096" cy="274320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Decision rule</a:t>
            </a:r>
            <a:endParaRPr lang="en-US" sz="1500" dirty="0"/>
          </a:p>
          <a:p>
            <a:pPr indent="0" marL="0">
              <a:spcBef>
                <a:spcPts val="800"/>
              </a:spcBef>
              <a:buNone/>
            </a:pPr>
            <a:r>
              <a:rPr lang="en-US" sz="1300" b="1" dirty="0">
                <a:solidFill>
                  <a:schemeClr val="tx1"/>
                </a:solidFill>
                <a:latin typeface="Calibri" pitchFamily="34" charset="0"/>
                <a:ea typeface="Calibri" pitchFamily="34" charset="-122"/>
                <a:cs typeface="Calibri" pitchFamily="34" charset="-120"/>
              </a:rPr>
              <a:t>Free frame available</a:t>
            </a:r>
            <a:endParaRPr lang="en-US" sz="1500" dirty="0"/>
          </a:p>
          <a:p>
            <a:pPr indent="0" marL="0">
              <a:buNone/>
            </a:pPr>
            <a:r>
              <a:rPr lang="en-US" sz="1300" dirty="0">
                <a:solidFill>
                  <a:schemeClr val="accent2"/>
                </a:solidFill>
                <a:latin typeface="Calibri" pitchFamily="34" charset="0"/>
                <a:ea typeface="Calibri" pitchFamily="34" charset="-122"/>
                <a:cs typeface="Calibri" pitchFamily="34" charset="-120"/>
              </a:rPr>
              <a:t>prefetch if confidence ≥ 0.15</a:t>
            </a:r>
            <a:endParaRPr lang="en-US" sz="1500" dirty="0"/>
          </a:p>
          <a:p>
            <a:pPr indent="0" marL="0">
              <a:spcBef>
                <a:spcPts val="800"/>
              </a:spcBef>
              <a:buNone/>
            </a:pPr>
            <a:r>
              <a:rPr lang="en-US" sz="1300" b="1" dirty="0">
                <a:solidFill>
                  <a:schemeClr val="tx1"/>
                </a:solidFill>
                <a:latin typeface="Calibri" pitchFamily="34" charset="0"/>
                <a:ea typeface="Calibri" pitchFamily="34" charset="-122"/>
                <a:cs typeface="Calibri" pitchFamily="34" charset="-120"/>
              </a:rPr>
              <a:t>RAM full</a:t>
            </a:r>
            <a:endParaRPr lang="en-US" sz="1500" dirty="0"/>
          </a:p>
          <a:p>
            <a:pPr indent="0" marL="0">
              <a:buNone/>
            </a:pPr>
            <a:r>
              <a:rPr lang="en-US" sz="1300" dirty="0">
                <a:solidFill>
                  <a:schemeClr val="accent2"/>
                </a:solidFill>
                <a:latin typeface="Calibri" pitchFamily="34" charset="0"/>
                <a:ea typeface="Calibri" pitchFamily="34" charset="-122"/>
                <a:cs typeface="Calibri" pitchFamily="34" charset="-120"/>
              </a:rPr>
              <a:t>prefetch if confidence ≥ threshold (0.15–0.95)</a:t>
            </a:r>
            <a:endParaRPr lang="en-US" sz="1500" dirty="0"/>
          </a:p>
        </p:txBody>
      </p:sp>
      <p:sp>
        <p:nvSpPr>
          <p:cNvPr id="24" name="card-125"/>
          <p:cNvSpPr/>
          <p:nvPr/>
        </p:nvSpPr>
        <p:spPr>
          <a:xfrm>
            <a:off x="6903720" y="1188720"/>
            <a:ext cx="2240280" cy="2971800"/>
          </a:xfrm>
          <a:prstGeom prst="roundRect">
            <a:avLst>
              <a:gd name="adj" fmla="val 3265"/>
            </a:avLst>
          </a:prstGeom>
          <a:solidFill>
            <a:srgbClr val="F7EAD9"/>
          </a:solidFill>
          <a:ln w="12700">
            <a:solidFill>
              <a:srgbClr val="F7EAD9"/>
            </a:solidFill>
            <a:prstDash val="solid"/>
          </a:ln>
        </p:spPr>
      </p:sp>
      <p:sp>
        <p:nvSpPr>
          <p:cNvPr id="25" name="text-126"/>
          <p:cNvSpPr txBox="1"/>
          <p:nvPr/>
        </p:nvSpPr>
        <p:spPr>
          <a:xfrm>
            <a:off x="7068312" y="1325880"/>
            <a:ext cx="1911096" cy="274320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Feedback rule</a:t>
            </a:r>
            <a:endParaRPr lang="en-US" sz="1500" dirty="0"/>
          </a:p>
          <a:p>
            <a:pPr indent="0" marL="0">
              <a:spcBef>
                <a:spcPts val="800"/>
              </a:spcBef>
              <a:buNone/>
            </a:pPr>
            <a:r>
              <a:rPr lang="en-US" sz="1300" b="1" dirty="0">
                <a:solidFill>
                  <a:schemeClr val="tx1"/>
                </a:solidFill>
                <a:latin typeface="Calibri" pitchFamily="34" charset="0"/>
                <a:ea typeface="Calibri" pitchFamily="34" charset="-122"/>
                <a:cs typeface="Calibri" pitchFamily="34" charset="-120"/>
              </a:rPr>
              <a:t>delta rate = (no-prefetch faults − real faults) / 1,000</a:t>
            </a:r>
            <a:endParaRPr lang="en-US" sz="1500" dirty="0"/>
          </a:p>
          <a:p>
            <a:pPr indent="0" marL="0">
              <a:spcBef>
                <a:spcPts val="800"/>
              </a:spcBef>
              <a:buNone/>
            </a:pPr>
            <a:r>
              <a:rPr lang="en-US" sz="1300" b="1" dirty="0">
                <a:solidFill>
                  <a:schemeClr val="tx1"/>
                </a:solidFill>
                <a:latin typeface="Calibri" pitchFamily="34" charset="0"/>
                <a:ea typeface="Calibri" pitchFamily="34" charset="-122"/>
                <a:cs typeface="Calibri" pitchFamily="34" charset="-120"/>
              </a:rPr>
              <a:t>&gt; +0.002</a:t>
            </a:r>
            <a:endParaRPr lang="en-US" sz="1500" dirty="0"/>
          </a:p>
          <a:p>
            <a:pPr indent="0" marL="0">
              <a:buNone/>
            </a:pPr>
            <a:r>
              <a:rPr lang="en-US" sz="1300" dirty="0">
                <a:solidFill>
                  <a:schemeClr val="accent2"/>
                </a:solidFill>
                <a:latin typeface="Calibri" pitchFamily="34" charset="0"/>
                <a:ea typeface="Calibri" pitchFamily="34" charset="-122"/>
                <a:cs typeface="Calibri" pitchFamily="34" charset="-120"/>
              </a:rPr>
              <a:t>threshold − 0.1 (bolder)</a:t>
            </a:r>
            <a:endParaRPr lang="en-US" sz="1500" dirty="0"/>
          </a:p>
          <a:p>
            <a:pPr indent="0" marL="0">
              <a:spcBef>
                <a:spcPts val="800"/>
              </a:spcBef>
              <a:buNone/>
            </a:pPr>
            <a:r>
              <a:rPr lang="en-US" sz="1300" b="1" dirty="0">
                <a:solidFill>
                  <a:schemeClr val="tx1"/>
                </a:solidFill>
                <a:latin typeface="Calibri" pitchFamily="34" charset="0"/>
                <a:ea typeface="Calibri" pitchFamily="34" charset="-122"/>
                <a:cs typeface="Calibri" pitchFamily="34" charset="-120"/>
              </a:rPr>
              <a:t>&lt; −0.002</a:t>
            </a:r>
            <a:endParaRPr lang="en-US" sz="1500" dirty="0"/>
          </a:p>
          <a:p>
            <a:pPr indent="0" marL="0">
              <a:buNone/>
            </a:pPr>
            <a:r>
              <a:rPr lang="en-US" sz="1300" dirty="0">
                <a:solidFill>
                  <a:schemeClr val="accent2"/>
                </a:solidFill>
                <a:latin typeface="Calibri" pitchFamily="34" charset="0"/>
                <a:ea typeface="Calibri" pitchFamily="34" charset="-122"/>
                <a:cs typeface="Calibri" pitchFamily="34" charset="-120"/>
              </a:rPr>
              <a:t>threshold + 0.1 (more careful)</a:t>
            </a:r>
            <a:endParaRPr lang="en-US" sz="1500" dirty="0"/>
          </a:p>
        </p:txBody>
      </p:sp>
      <p:sp>
        <p:nvSpPr>
          <p:cNvPr id="26" name="card-127"/>
          <p:cNvSpPr/>
          <p:nvPr/>
        </p:nvSpPr>
        <p:spPr>
          <a:xfrm>
            <a:off x="9326880" y="1188720"/>
            <a:ext cx="2240280" cy="2971800"/>
          </a:xfrm>
          <a:prstGeom prst="roundRect">
            <a:avLst>
              <a:gd name="adj" fmla="val 3265"/>
            </a:avLst>
          </a:prstGeom>
          <a:solidFill>
            <a:schemeClr val="bg2"/>
          </a:solidFill>
          <a:ln w="12700">
            <a:solidFill>
              <a:schemeClr val="bg2"/>
            </a:solidFill>
            <a:prstDash val="solid"/>
          </a:ln>
        </p:spPr>
      </p:sp>
      <p:sp>
        <p:nvSpPr>
          <p:cNvPr id="27" name="text-128"/>
          <p:cNvSpPr txBox="1"/>
          <p:nvPr/>
        </p:nvSpPr>
        <p:spPr>
          <a:xfrm>
            <a:off x="9491472" y="1325880"/>
            <a:ext cx="1911096" cy="274320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Predictors</a:t>
            </a:r>
            <a:endParaRPr lang="en-US" sz="1500" dirty="0"/>
          </a:p>
          <a:p>
            <a:pPr indent="0" marL="0">
              <a:spcBef>
                <a:spcPts val="800"/>
              </a:spcBef>
              <a:buNone/>
            </a:pPr>
            <a:r>
              <a:rPr lang="en-US" sz="1300" b="1" dirty="0">
                <a:solidFill>
                  <a:schemeClr val="tx1"/>
                </a:solidFill>
                <a:latin typeface="Calibri" pitchFamily="34" charset="0"/>
                <a:ea typeface="Calibri" pitchFamily="34" charset="-122"/>
                <a:cs typeface="Calibri" pitchFamily="34" charset="-120"/>
              </a:rPr>
              <a:t>Readahead</a:t>
            </a:r>
            <a:endParaRPr lang="en-US" sz="1500" dirty="0"/>
          </a:p>
          <a:p>
            <a:pPr indent="0" marL="0">
              <a:buNone/>
            </a:pPr>
            <a:r>
              <a:rPr lang="en-US" sz="1300" dirty="0">
                <a:solidFill>
                  <a:schemeClr val="accent2"/>
                </a:solidFill>
                <a:latin typeface="Calibri" pitchFamily="34" charset="0"/>
                <a:ea typeface="Calibri" pitchFamily="34" charset="-122"/>
                <a:cs typeface="Calibri" pitchFamily="34" charset="-120"/>
              </a:rPr>
              <a:t>window 4 → 8 → 16 pages (cap RAM/4); confidence = run/(run+1)</a:t>
            </a:r>
            <a:endParaRPr lang="en-US" sz="1500" dirty="0"/>
          </a:p>
          <a:p>
            <a:pPr indent="0" marL="0">
              <a:spcBef>
                <a:spcPts val="800"/>
              </a:spcBef>
              <a:buNone/>
            </a:pPr>
            <a:r>
              <a:rPr lang="en-US" sz="1300" b="1" dirty="0">
                <a:solidFill>
                  <a:schemeClr val="tx1"/>
                </a:solidFill>
                <a:latin typeface="Calibri" pitchFamily="34" charset="0"/>
                <a:ea typeface="Calibri" pitchFamily="34" charset="-122"/>
                <a:cs typeface="Calibri" pitchFamily="34" charset="-120"/>
              </a:rPr>
              <a:t>Delta-Markov</a:t>
            </a:r>
            <a:endParaRPr lang="en-US" sz="1500" dirty="0"/>
          </a:p>
          <a:p>
            <a:pPr indent="0" marL="0">
              <a:buNone/>
            </a:pPr>
            <a:r>
              <a:rPr lang="en-US" sz="1300" dirty="0">
                <a:solidFill>
                  <a:schemeClr val="accent2"/>
                </a:solidFill>
                <a:latin typeface="Calibri" pitchFamily="34" charset="0"/>
                <a:ea typeface="Calibri" pitchFamily="34" charset="-122"/>
                <a:cs typeface="Calibri" pitchFamily="34" charset="-120"/>
              </a:rPr>
              <a:t>learns gaps: +1, +3, +1 … predicts pages never seen</a:t>
            </a:r>
            <a:endParaRPr lang="en-US" sz="1500" dirty="0"/>
          </a:p>
        </p:txBody>
      </p:sp>
      <p:sp>
        <p:nvSpPr>
          <p:cNvPr id="28" name="text-129"/>
          <p:cNvSpPr txBox="1"/>
          <p:nvPr/>
        </p:nvSpPr>
        <p:spPr>
          <a:xfrm>
            <a:off x="4480560" y="4343400"/>
            <a:ext cx="7178040" cy="91440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Why this approach: </a:t>
            </a:r>
            <a:pPr indent="0" marL="0">
              <a:buNone/>
            </a:pPr>
            <a:r>
              <a:rPr lang="en-US" sz="1300" dirty="0">
                <a:solidFill>
                  <a:schemeClr val="accent2"/>
                </a:solidFill>
                <a:latin typeface="Calibri" pitchFamily="34" charset="0"/>
                <a:ea typeface="Calibri" pitchFamily="34" charset="-122"/>
                <a:cs typeface="Calibri" pitchFamily="34" charset="-120"/>
              </a:rPr>
              <a:t>the predictor runs on every request, so it must be O(1) and tiny (256-entry tables); the feedback measures the outcome itself, which confidence and precision failed to do. All settings were chosen on the first 25% of each trace only.</a:t>
            </a:r>
            <a:endParaRPr lang="en-US" sz="1300" dirty="0"/>
          </a:p>
        </p:txBody>
      </p:sp>
      <p:sp>
        <p:nvSpPr>
          <p:cNvPr id="29" name="text-130"/>
          <p:cNvSpPr txBox="1"/>
          <p:nvPr/>
        </p:nvSpPr>
        <p:spPr>
          <a:xfrm>
            <a:off x="4480560" y="5349240"/>
            <a:ext cx="7178040" cy="68580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Method: </a:t>
            </a:r>
            <a:pPr indent="0" marL="0">
              <a:buNone/>
            </a:pPr>
            <a:r>
              <a:rPr lang="en-US" sz="1300" dirty="0">
                <a:solidFill>
                  <a:schemeClr val="accent2"/>
                </a:solidFill>
                <a:latin typeface="Calibri" pitchFamily="34" charset="0"/>
                <a:ea typeface="Calibri" pitchFamily="34" charset="-122"/>
                <a:cs typeface="Calibri" pitchFamily="34" charset="-120"/>
              </a:rPr>
              <a:t>trace-driven simulation · identical input for every method · RAM = 1% and 5% of each working set · judged by page faults and estimated time</a:t>
            </a:r>
            <a:endParaRPr lang="en-US" sz="13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Implementation: a Python simulator in eight modules</a:t>
            </a:r>
            <a:endParaRPr lang="en-US" sz="3000" dirty="0"/>
          </a:p>
        </p:txBody>
      </p:sp>
      <p:sp>
        <p:nvSpPr>
          <p:cNvPr id="3" name="text-131"/>
          <p:cNvSpPr txBox="1"/>
          <p:nvPr/>
        </p:nvSpPr>
        <p:spPr>
          <a:xfrm>
            <a:off x="548640" y="1188720"/>
            <a:ext cx="40233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Technology stack</a:t>
            </a:r>
            <a:endParaRPr lang="en-US" sz="1700" dirty="0"/>
          </a:p>
        </p:txBody>
      </p:sp>
      <p:sp>
        <p:nvSpPr>
          <p:cNvPr id="4" name="card-132"/>
          <p:cNvSpPr/>
          <p:nvPr/>
        </p:nvSpPr>
        <p:spPr>
          <a:xfrm>
            <a:off x="548640" y="1691640"/>
            <a:ext cx="1920240" cy="841248"/>
          </a:xfrm>
          <a:prstGeom prst="roundRect">
            <a:avLst>
              <a:gd name="adj" fmla="val 8696"/>
            </a:avLst>
          </a:prstGeom>
          <a:solidFill>
            <a:schemeClr val="bg2"/>
          </a:solidFill>
          <a:ln w="12700">
            <a:solidFill>
              <a:schemeClr val="bg2"/>
            </a:solidFill>
            <a:prstDash val="solid"/>
          </a:ln>
        </p:spPr>
      </p:sp>
      <p:sp>
        <p:nvSpPr>
          <p:cNvPr id="5" name="text-133"/>
          <p:cNvSpPr txBox="1"/>
          <p:nvPr/>
        </p:nvSpPr>
        <p:spPr>
          <a:xfrm>
            <a:off x="676656" y="1783080"/>
            <a:ext cx="1691640" cy="713232"/>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Python 3.14</a:t>
            </a:r>
            <a:endParaRPr lang="en-US" sz="1300" dirty="0"/>
          </a:p>
          <a:p>
            <a:pPr indent="0" marL="0">
              <a:buNone/>
            </a:pPr>
            <a:r>
              <a:rPr lang="en-US" sz="1100" dirty="0">
                <a:solidFill>
                  <a:schemeClr val="accent2"/>
                </a:solidFill>
                <a:latin typeface="Calibri" pitchFamily="34" charset="0"/>
                <a:ea typeface="Calibri" pitchFamily="34" charset="-122"/>
                <a:cs typeface="Calibri" pitchFamily="34" charset="-120"/>
              </a:rPr>
              <a:t>all code (3.9+ compatible)</a:t>
            </a:r>
            <a:endParaRPr lang="en-US" sz="1300" dirty="0"/>
          </a:p>
        </p:txBody>
      </p:sp>
      <p:sp>
        <p:nvSpPr>
          <p:cNvPr id="6" name="card-134"/>
          <p:cNvSpPr/>
          <p:nvPr/>
        </p:nvSpPr>
        <p:spPr>
          <a:xfrm>
            <a:off x="2606040" y="1691640"/>
            <a:ext cx="1920240" cy="841248"/>
          </a:xfrm>
          <a:prstGeom prst="roundRect">
            <a:avLst>
              <a:gd name="adj" fmla="val 8696"/>
            </a:avLst>
          </a:prstGeom>
          <a:solidFill>
            <a:schemeClr val="bg2"/>
          </a:solidFill>
          <a:ln w="12700">
            <a:solidFill>
              <a:schemeClr val="bg2"/>
            </a:solidFill>
            <a:prstDash val="solid"/>
          </a:ln>
        </p:spPr>
      </p:sp>
      <p:sp>
        <p:nvSpPr>
          <p:cNvPr id="7" name="text-135"/>
          <p:cNvSpPr txBox="1"/>
          <p:nvPr/>
        </p:nvSpPr>
        <p:spPr>
          <a:xfrm>
            <a:off x="2734056" y="1783080"/>
            <a:ext cx="1691640" cy="713232"/>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NumPy · pandas</a:t>
            </a:r>
            <a:endParaRPr lang="en-US" sz="1300" dirty="0"/>
          </a:p>
          <a:p>
            <a:pPr indent="0" marL="0">
              <a:buNone/>
            </a:pPr>
            <a:r>
              <a:rPr lang="en-US" sz="1100" dirty="0">
                <a:solidFill>
                  <a:schemeClr val="accent2"/>
                </a:solidFill>
                <a:latin typeface="Calibri" pitchFamily="34" charset="0"/>
                <a:ea typeface="Calibri" pitchFamily="34" charset="-122"/>
                <a:cs typeface="Calibri" pitchFamily="34" charset="-120"/>
              </a:rPr>
              <a:t>traces, result tables</a:t>
            </a:r>
            <a:endParaRPr lang="en-US" sz="1300" dirty="0"/>
          </a:p>
        </p:txBody>
      </p:sp>
      <p:sp>
        <p:nvSpPr>
          <p:cNvPr id="8" name="card-136"/>
          <p:cNvSpPr/>
          <p:nvPr/>
        </p:nvSpPr>
        <p:spPr>
          <a:xfrm>
            <a:off x="548640" y="2679192"/>
            <a:ext cx="1920240" cy="841248"/>
          </a:xfrm>
          <a:prstGeom prst="roundRect">
            <a:avLst>
              <a:gd name="adj" fmla="val 8696"/>
            </a:avLst>
          </a:prstGeom>
          <a:solidFill>
            <a:schemeClr val="bg2"/>
          </a:solidFill>
          <a:ln w="12700">
            <a:solidFill>
              <a:schemeClr val="bg2"/>
            </a:solidFill>
            <a:prstDash val="solid"/>
          </a:ln>
        </p:spPr>
      </p:sp>
      <p:sp>
        <p:nvSpPr>
          <p:cNvPr id="9" name="text-137"/>
          <p:cNvSpPr txBox="1"/>
          <p:nvPr/>
        </p:nvSpPr>
        <p:spPr>
          <a:xfrm>
            <a:off x="676656" y="2770632"/>
            <a:ext cx="1691640" cy="713232"/>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matplotlib</a:t>
            </a:r>
            <a:endParaRPr lang="en-US" sz="1300" dirty="0"/>
          </a:p>
          <a:p>
            <a:pPr indent="0" marL="0">
              <a:buNone/>
            </a:pPr>
            <a:r>
              <a:rPr lang="en-US" sz="1100" dirty="0">
                <a:solidFill>
                  <a:schemeClr val="accent2"/>
                </a:solidFill>
                <a:latin typeface="Calibri" pitchFamily="34" charset="0"/>
                <a:ea typeface="Calibri" pitchFamily="34" charset="-122"/>
                <a:cs typeface="Calibri" pitchFamily="34" charset="-120"/>
              </a:rPr>
              <a:t>figures</a:t>
            </a:r>
            <a:endParaRPr lang="en-US" sz="1300" dirty="0"/>
          </a:p>
        </p:txBody>
      </p:sp>
      <p:sp>
        <p:nvSpPr>
          <p:cNvPr id="10" name="card-138"/>
          <p:cNvSpPr/>
          <p:nvPr/>
        </p:nvSpPr>
        <p:spPr>
          <a:xfrm>
            <a:off x="2606040" y="2679192"/>
            <a:ext cx="1920240" cy="841248"/>
          </a:xfrm>
          <a:prstGeom prst="roundRect">
            <a:avLst>
              <a:gd name="adj" fmla="val 8696"/>
            </a:avLst>
          </a:prstGeom>
          <a:solidFill>
            <a:schemeClr val="bg2"/>
          </a:solidFill>
          <a:ln w="12700">
            <a:solidFill>
              <a:schemeClr val="bg2"/>
            </a:solidFill>
            <a:prstDash val="solid"/>
          </a:ln>
        </p:spPr>
      </p:sp>
      <p:sp>
        <p:nvSpPr>
          <p:cNvPr id="11" name="text-139"/>
          <p:cNvSpPr txBox="1"/>
          <p:nvPr/>
        </p:nvSpPr>
        <p:spPr>
          <a:xfrm>
            <a:off x="2734056" y="2770632"/>
            <a:ext cx="1691640" cy="713232"/>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pytest</a:t>
            </a:r>
            <a:endParaRPr lang="en-US" sz="1300" dirty="0"/>
          </a:p>
          <a:p>
            <a:pPr indent="0" marL="0">
              <a:buNone/>
            </a:pPr>
            <a:r>
              <a:rPr lang="en-US" sz="1100" dirty="0">
                <a:solidFill>
                  <a:schemeClr val="accent2"/>
                </a:solidFill>
                <a:latin typeface="Calibri" pitchFamily="34" charset="0"/>
                <a:ea typeface="Calibri" pitchFamily="34" charset="-122"/>
                <a:cs typeface="Calibri" pitchFamily="34" charset="-120"/>
              </a:rPr>
              <a:t>24 automated tests</a:t>
            </a:r>
            <a:endParaRPr lang="en-US" sz="1300" dirty="0"/>
          </a:p>
        </p:txBody>
      </p:sp>
      <p:sp>
        <p:nvSpPr>
          <p:cNvPr id="12" name="card-140"/>
          <p:cNvSpPr/>
          <p:nvPr/>
        </p:nvSpPr>
        <p:spPr>
          <a:xfrm>
            <a:off x="548640" y="3666744"/>
            <a:ext cx="1920240" cy="841248"/>
          </a:xfrm>
          <a:prstGeom prst="roundRect">
            <a:avLst>
              <a:gd name="adj" fmla="val 8696"/>
            </a:avLst>
          </a:prstGeom>
          <a:solidFill>
            <a:schemeClr val="bg2"/>
          </a:solidFill>
          <a:ln w="12700">
            <a:solidFill>
              <a:schemeClr val="bg2"/>
            </a:solidFill>
            <a:prstDash val="solid"/>
          </a:ln>
        </p:spPr>
      </p:sp>
      <p:sp>
        <p:nvSpPr>
          <p:cNvPr id="13" name="text-141"/>
          <p:cNvSpPr txBox="1"/>
          <p:nvPr/>
        </p:nvSpPr>
        <p:spPr>
          <a:xfrm>
            <a:off x="676656" y="3758184"/>
            <a:ext cx="1691640" cy="713232"/>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Python stdlib</a:t>
            </a:r>
            <a:endParaRPr lang="en-US" sz="1300" dirty="0"/>
          </a:p>
          <a:p>
            <a:pPr indent="0" marL="0">
              <a:buNone/>
            </a:pPr>
            <a:r>
              <a:rPr lang="en-US" sz="1100" dirty="0">
                <a:solidFill>
                  <a:schemeClr val="accent2"/>
                </a:solidFill>
                <a:latin typeface="Calibri" pitchFamily="34" charset="0"/>
                <a:ea typeface="Calibri" pitchFamily="34" charset="-122"/>
                <a:cs typeface="Calibri" pitchFamily="34" charset="-120"/>
              </a:rPr>
              <a:t>lzma, urllib, heapq, bisect, OrderedDict</a:t>
            </a:r>
            <a:endParaRPr lang="en-US" sz="1300" dirty="0"/>
          </a:p>
        </p:txBody>
      </p:sp>
      <p:sp>
        <p:nvSpPr>
          <p:cNvPr id="14" name="card-142"/>
          <p:cNvSpPr/>
          <p:nvPr/>
        </p:nvSpPr>
        <p:spPr>
          <a:xfrm>
            <a:off x="2606040" y="3666744"/>
            <a:ext cx="1920240" cy="841248"/>
          </a:xfrm>
          <a:prstGeom prst="roundRect">
            <a:avLst>
              <a:gd name="adj" fmla="val 8696"/>
            </a:avLst>
          </a:prstGeom>
          <a:solidFill>
            <a:schemeClr val="bg2"/>
          </a:solidFill>
          <a:ln w="12700">
            <a:solidFill>
              <a:schemeClr val="bg2"/>
            </a:solidFill>
            <a:prstDash val="solid"/>
          </a:ln>
        </p:spPr>
      </p:sp>
      <p:sp>
        <p:nvSpPr>
          <p:cNvPr id="15" name="text-143"/>
          <p:cNvSpPr txBox="1"/>
          <p:nvPr/>
        </p:nvSpPr>
        <p:spPr>
          <a:xfrm>
            <a:off x="2734056" y="3758184"/>
            <a:ext cx="1691640" cy="713232"/>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Git · GitHub</a:t>
            </a:r>
            <a:endParaRPr lang="en-US" sz="1300" dirty="0"/>
          </a:p>
          <a:p>
            <a:pPr indent="0" marL="0">
              <a:buNone/>
            </a:pPr>
            <a:r>
              <a:rPr lang="en-US" sz="1100" dirty="0">
                <a:solidFill>
                  <a:schemeClr val="accent2"/>
                </a:solidFill>
                <a:latin typeface="Calibri" pitchFamily="34" charset="0"/>
                <a:ea typeface="Calibri" pitchFamily="34" charset="-122"/>
                <a:cs typeface="Calibri" pitchFamily="34" charset="-120"/>
              </a:rPr>
              <a:t>version control</a:t>
            </a:r>
            <a:endParaRPr lang="en-US" sz="1300" dirty="0"/>
          </a:p>
        </p:txBody>
      </p:sp>
      <p:sp>
        <p:nvSpPr>
          <p:cNvPr id="16" name="card-144"/>
          <p:cNvSpPr/>
          <p:nvPr/>
        </p:nvSpPr>
        <p:spPr>
          <a:xfrm>
            <a:off x="548640" y="4654296"/>
            <a:ext cx="1920240" cy="841248"/>
          </a:xfrm>
          <a:prstGeom prst="roundRect">
            <a:avLst>
              <a:gd name="adj" fmla="val 8696"/>
            </a:avLst>
          </a:prstGeom>
          <a:solidFill>
            <a:schemeClr val="bg2"/>
          </a:solidFill>
          <a:ln w="12700">
            <a:solidFill>
              <a:schemeClr val="bg2"/>
            </a:solidFill>
            <a:prstDash val="solid"/>
          </a:ln>
        </p:spPr>
      </p:sp>
      <p:sp>
        <p:nvSpPr>
          <p:cNvPr id="17" name="text-145"/>
          <p:cNvSpPr txBox="1"/>
          <p:nvPr/>
        </p:nvSpPr>
        <p:spPr>
          <a:xfrm>
            <a:off x="676656" y="4745736"/>
            <a:ext cx="1691640" cy="713232"/>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Google Colab</a:t>
            </a:r>
            <a:endParaRPr lang="en-US" sz="1300" dirty="0"/>
          </a:p>
          <a:p>
            <a:pPr indent="0" marL="0">
              <a:buNone/>
            </a:pPr>
            <a:r>
              <a:rPr lang="en-US" sz="1100" dirty="0">
                <a:solidFill>
                  <a:schemeClr val="accent2"/>
                </a:solidFill>
                <a:latin typeface="Calibri" pitchFamily="34" charset="0"/>
                <a:ea typeface="Calibri" pitchFamily="34" charset="-122"/>
                <a:cs typeface="Calibri" pitchFamily="34" charset="-120"/>
              </a:rPr>
              <a:t>first stages (Stages 1–5)</a:t>
            </a:r>
            <a:endParaRPr lang="en-US" sz="1300" dirty="0"/>
          </a:p>
        </p:txBody>
      </p:sp>
      <p:sp>
        <p:nvSpPr>
          <p:cNvPr id="18" name="card-146"/>
          <p:cNvSpPr/>
          <p:nvPr/>
        </p:nvSpPr>
        <p:spPr>
          <a:xfrm>
            <a:off x="2606040" y="4654296"/>
            <a:ext cx="1920240" cy="841248"/>
          </a:xfrm>
          <a:prstGeom prst="roundRect">
            <a:avLst>
              <a:gd name="adj" fmla="val 8696"/>
            </a:avLst>
          </a:prstGeom>
          <a:solidFill>
            <a:schemeClr val="bg2"/>
          </a:solidFill>
          <a:ln w="12700">
            <a:solidFill>
              <a:schemeClr val="bg2"/>
            </a:solidFill>
            <a:prstDash val="solid"/>
          </a:ln>
        </p:spPr>
      </p:sp>
      <p:sp>
        <p:nvSpPr>
          <p:cNvPr id="19" name="text-147"/>
          <p:cNvSpPr txBox="1"/>
          <p:nvPr/>
        </p:nvSpPr>
        <p:spPr>
          <a:xfrm>
            <a:off x="2734056" y="4745736"/>
            <a:ext cx="1691640" cy="713232"/>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ML-DPC LoadTraces</a:t>
            </a:r>
            <a:endParaRPr lang="en-US" sz="1300" dirty="0"/>
          </a:p>
          <a:p>
            <a:pPr indent="0" marL="0">
              <a:buNone/>
            </a:pPr>
            <a:r>
              <a:rPr lang="en-US" sz="1100" dirty="0">
                <a:solidFill>
                  <a:schemeClr val="accent2"/>
                </a:solidFill>
                <a:latin typeface="Calibri" pitchFamily="34" charset="0"/>
                <a:ea typeface="Calibri" pitchFamily="34" charset="-122"/>
                <a:cs typeface="Calibri" pitchFamily="34" charset="-120"/>
              </a:rPr>
              <a:t>SPEC CPU 2006 + GAP traces</a:t>
            </a:r>
            <a:endParaRPr lang="en-US" sz="1300" dirty="0"/>
          </a:p>
        </p:txBody>
      </p:sp>
      <p:graphicFrame>
        <p:nvGraphicFramePr>
          <p:cNvPr id="7" name="table-148"/>
          <p:cNvGraphicFramePr>
            <a:graphicFrameLocks noGrp="1"/>
          </p:cNvGraphicFramePr>
          <p:nvPr>
            <p:extLst>
              <p:ext uri="{D42A27DB-BD31-4B8C-83A1-F6EECF244321}">
                <p14:modId xmlns:p14="http://schemas.microsoft.com/office/powerpoint/2010/main" val="1579011935"/>
              </p:ext>
            </p:extLst>
          </p:nvPr>
        </p:nvGraphicFramePr>
        <p:xfrm>
          <a:off x="4846320" y="1188720"/>
          <a:ext cx="6812280" cy="914400"/>
        </p:xfrm>
        <a:graphic>
          <a:graphicData uri="http://schemas.openxmlformats.org/drawingml/2006/table">
            <a:tbl>
              <a:tblPr/>
              <a:tblGrid>
                <a:gridCol w="1920240"/>
                <a:gridCol w="3429000"/>
                <a:gridCol w="1463040"/>
              </a:tblGrid>
              <a:tr h="384048">
                <a:tc>
                  <a:txBody>
                    <a:bodyPr/>
                    <a:lstStyle/>
                    <a:p>
                      <a:pPr indent="0" marL="0">
                        <a:buNone/>
                      </a:pPr>
                      <a:r>
                        <a:rPr lang="en-US" sz="1300" b="1" dirty="0">
                          <a:solidFill>
                            <a:srgbClr val="1F1D1A"/>
                          </a:solidFill>
                          <a:latin typeface="Calibri" pitchFamily="34" charset="0"/>
                          <a:ea typeface="Calibri" pitchFamily="34" charset="-122"/>
                          <a:cs typeface="Calibri" pitchFamily="34" charset="-120"/>
                        </a:rPr>
                        <a:t>Module</a:t>
                      </a:r>
                      <a:endParaRPr lang="en-US" sz="13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solidFill>
                      <a:srgbClr val="F3F1ED"/>
                    </a:solidFill>
                  </a:tcPr>
                </a:tc>
                <a:tc>
                  <a:txBody>
                    <a:bodyPr/>
                    <a:lstStyle/>
                    <a:p>
                      <a:pPr indent="0" marL="0">
                        <a:buNone/>
                      </a:pPr>
                      <a:r>
                        <a:rPr lang="en-US" sz="1300" b="1" dirty="0">
                          <a:solidFill>
                            <a:srgbClr val="1F1D1A"/>
                          </a:solidFill>
                          <a:latin typeface="Calibri" pitchFamily="34" charset="0"/>
                          <a:ea typeface="Calibri" pitchFamily="34" charset="-122"/>
                          <a:cs typeface="Calibri" pitchFamily="34" charset="-120"/>
                        </a:rPr>
                        <a:t>Responsibility</a:t>
                      </a:r>
                      <a:endParaRPr lang="en-US" sz="13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solidFill>
                      <a:srgbClr val="F3F1ED"/>
                    </a:solidFill>
                  </a:tcPr>
                </a:tc>
                <a:tc>
                  <a:txBody>
                    <a:bodyPr/>
                    <a:lstStyle/>
                    <a:p>
                      <a:pPr indent="0" marL="0">
                        <a:buNone/>
                      </a:pPr>
                      <a:r>
                        <a:rPr lang="en-US" sz="1300" b="1" dirty="0">
                          <a:solidFill>
                            <a:srgbClr val="1F1D1A"/>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solidFill>
                      <a:srgbClr val="F3F1ED"/>
                    </a:solidFill>
                  </a:tcPr>
                </a:tc>
              </a:tr>
              <a:tr h="384048">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traces.py</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generate, convert and load traces</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150" b="1" dirty="0">
                          <a:solidFill>
                            <a:srgbClr val="C2700A"/>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r>
              <a:tr h="384048">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engine.py</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RAM model; FIFO, LRU, Clock, OPT, ARC, LRU-2</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150" b="1" dirty="0">
                          <a:solidFill>
                            <a:srgbClr val="C2700A"/>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r>
              <a:tr h="384048">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predictors.py</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stride, Markov, hybrid, delta-Markov, readahead</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150" b="1" dirty="0">
                          <a:solidFill>
                            <a:srgbClr val="C2700A"/>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r>
              <a:tr h="384048">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deciders.py</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9 decision engines, shared feedback controller</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150" b="1" dirty="0">
                          <a:solidFill>
                            <a:srgbClr val="C2700A"/>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r>
              <a:tr h="384048">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simulate.py</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per-request loops; ghost list; shadow directory</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150" b="1" dirty="0">
                          <a:solidFill>
                            <a:srgbClr val="C2700A"/>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r>
              <a:tr h="384048">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timing.py</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I/O time model</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150" b="1" dirty="0">
                          <a:solidFill>
                            <a:srgbClr val="C2700A"/>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r>
              <a:tr h="384048">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final.py</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frozen final system (run_final)</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150" b="1" dirty="0">
                          <a:solidFill>
                            <a:srgbClr val="C2700A"/>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r>
              <a:tr h="384048">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scripts 01–17</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experiments, HTML report</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150" b="1" dirty="0">
                          <a:solidFill>
                            <a:srgbClr val="C2700A"/>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r>
              <a:tr h="384048">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Prediction-aware eviction</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evict unused prefetches early</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150" b="1" dirty="0">
                          <a:solidFill>
                            <a:srgbClr val="6B665E"/>
                          </a:solidFill>
                          <a:latin typeface="Calibri" pitchFamily="34" charset="0"/>
                          <a:ea typeface="Calibri" pitchFamily="34" charset="-122"/>
                          <a:cs typeface="Calibri" pitchFamily="34" charset="-120"/>
                        </a:rPr>
                        <a:t>Tried, no gain</a:t>
                      </a:r>
                      <a:endParaRPr lang="en-US" sz="115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r>
              <a:tr h="384048">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Kernel integration</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200" dirty="0">
                          <a:solidFill>
                            <a:srgbClr val="1F1D1A"/>
                          </a:solidFill>
                          <a:latin typeface="Calibri" pitchFamily="34" charset="0"/>
                          <a:ea typeface="Calibri" pitchFamily="34" charset="-122"/>
                          <a:cs typeface="Calibri" pitchFamily="34" charset="-120"/>
                        </a:rPr>
                        <a:t>run inside a real OS</a:t>
                      </a:r>
                      <a:endParaRPr lang="en-US" sz="120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c>
                  <a:txBody>
                    <a:bodyPr/>
                    <a:lstStyle/>
                    <a:p>
                      <a:pPr indent="0" marL="0">
                        <a:buNone/>
                      </a:pPr>
                      <a:r>
                        <a:rPr lang="en-US" sz="1150" b="1" dirty="0">
                          <a:solidFill>
                            <a:srgbClr val="6B665E"/>
                          </a:solidFill>
                          <a:latin typeface="Calibri" pitchFamily="34" charset="0"/>
                          <a:ea typeface="Calibri" pitchFamily="34" charset="-122"/>
                          <a:cs typeface="Calibri" pitchFamily="34" charset="-120"/>
                        </a:rPr>
                        <a:t>Future work</a:t>
                      </a:r>
                      <a:endParaRPr lang="en-US" sz="1150" dirty="0">
                        <a:latin typeface="Calibri" charset="0"/>
                        <a:ea typeface="Calibri" charset="0"/>
                        <a:cs typeface="Calibri" charset="0"/>
                      </a:endParaRPr>
                    </a:p>
                  </a:txBody>
                  <a:tcPr marL="76200" marR="76200" marT="25400" marB="25400" anchor="ctr">
                    <a:lnL w="9525" cap="flat" cmpd="sng" algn="ctr">
                      <a:solidFill>
                        <a:srgbClr val="D6D2CA"/>
                      </a:solidFill>
                      <a:prstDash val="solid"/>
                      <a:round/>
                      <a:headEnd type="none" w="med" len="med"/>
                      <a:tailEnd type="none" w="med" len="med"/>
                    </a:lnL>
                    <a:lnR w="9525" cap="flat" cmpd="sng" algn="ctr">
                      <a:solidFill>
                        <a:srgbClr val="D6D2CA"/>
                      </a:solidFill>
                      <a:prstDash val="solid"/>
                      <a:round/>
                      <a:headEnd type="none" w="med" len="med"/>
                      <a:tailEnd type="none" w="med" len="med"/>
                    </a:lnR>
                    <a:lnT w="9525" cap="flat" cmpd="sng" algn="ctr">
                      <a:solidFill>
                        <a:srgbClr val="D6D2CA"/>
                      </a:solidFill>
                      <a:prstDash val="solid"/>
                      <a:round/>
                      <a:headEnd type="none" w="med" len="med"/>
                      <a:tailEnd type="none" w="med" len="med"/>
                    </a:lnT>
                    <a:lnB w="9525" cap="flat" cmpd="sng" algn="ctr">
                      <a:solidFill>
                        <a:srgbClr val="D6D2CA"/>
                      </a:solidFill>
                      <a:prstDash val="solid"/>
                      <a:round/>
                      <a:headEnd type="none" w="med" len="med"/>
                      <a:tailEnd type="none" w="med" len="med"/>
                    </a:lnB>
                  </a:tcPr>
                </a:tc>
              </a:tr>
            </a:tbl>
          </a:graphicData>
        </a:graphic>
      </p:graphicFrame>
      <p:sp>
        <p:nvSpPr>
          <p:cNvPr id="21" name="text-149"/>
          <p:cNvSpPr txBox="1"/>
          <p:nvPr/>
        </p:nvSpPr>
        <p:spPr>
          <a:xfrm>
            <a:off x="548640" y="5715000"/>
            <a:ext cx="11109960" cy="502920"/>
          </a:xfrm>
          <a:prstGeom prst="rect">
            <a:avLst/>
          </a:prstGeom>
          <a:noFill/>
          <a:ln/>
        </p:spPr>
        <p:txBody>
          <a:bodyPr wrap="square" lIns="0" tIns="0" rIns="0" bIns="0" rtlCol="0" anchor="t"/>
          <a:lstStyle/>
          <a:p>
            <a:pPr indent="0" marL="0">
              <a:buNone/>
            </a:pPr>
            <a:r>
              <a:rPr lang="en-US" sz="1250" b="1" dirty="0">
                <a:solidFill>
                  <a:schemeClr val="tx1"/>
                </a:solidFill>
                <a:latin typeface="Calibri" pitchFamily="34" charset="0"/>
                <a:ea typeface="Calibri" pitchFamily="34" charset="-122"/>
                <a:cs typeface="Calibri" pitchFamily="34" charset="-120"/>
              </a:rPr>
              <a:t>Key decisions: </a:t>
            </a:r>
            <a:pPr indent="0" marL="0">
              <a:buNone/>
            </a:pPr>
            <a:r>
              <a:rPr lang="en-US" sz="1250" dirty="0">
                <a:solidFill>
                  <a:schemeClr val="accent2"/>
                </a:solidFill>
                <a:latin typeface="Calibri" pitchFamily="34" charset="0"/>
                <a:ea typeface="Calibri" pitchFamily="34" charset="-122"/>
                <a:cs typeface="Calibri" pitchFamily="34" charset="-120"/>
              </a:rPr>
              <a:t>one install path for all pages · predictor and decider never see each other’s internals · RAM sized as % of working set · warm-up-only tuning</a:t>
            </a:r>
            <a:endParaRPr lang="en-US" sz="125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Working system: real runs, real output</a:t>
            </a:r>
            <a:endParaRPr lang="en-US" sz="3000" dirty="0"/>
          </a:p>
        </p:txBody>
      </p:sp>
      <p:pic>
        <p:nvPicPr>
          <p:cNvPr id="3" name="shot-150" descr="Terminal: 24 tests passed; final system run on leslie3d">    </p:cNvPr>
          <p:cNvPicPr>
            <a:picLocks noChangeAspect="1"/>
          </p:cNvPicPr>
          <p:nvPr/>
        </p:nvPicPr>
        <p:blipFill>
          <a:blip r:embed="rId1"/>
          <a:stretch>
            <a:fillRect/>
          </a:stretch>
        </p:blipFill>
        <p:spPr>
          <a:xfrm>
            <a:off x="548640" y="1188720"/>
            <a:ext cx="6035040" cy="2236515"/>
          </a:xfrm>
          <a:prstGeom prst="rect">
            <a:avLst/>
          </a:prstGeom>
        </p:spPr>
      </p:pic>
      <p:sp>
        <p:nvSpPr>
          <p:cNvPr id="4" name="text-151"/>
          <p:cNvSpPr txBox="1"/>
          <p:nvPr/>
        </p:nvSpPr>
        <p:spPr>
          <a:xfrm>
            <a:off x="548640" y="3520440"/>
            <a:ext cx="6035040" cy="685800"/>
          </a:xfrm>
          <a:prstGeom prst="rect">
            <a:avLst/>
          </a:prstGeom>
          <a:noFill/>
          <a:ln/>
        </p:spPr>
        <p:txBody>
          <a:bodyPr wrap="square" lIns="0" tIns="0" rIns="0" bIns="0" rtlCol="0" anchor="t"/>
          <a:lstStyle/>
          <a:p>
            <a:pPr indent="0" marL="0">
              <a:buNone/>
            </a:pPr>
            <a:r>
              <a:rPr lang="en-US" sz="1250" b="1" dirty="0">
                <a:solidFill>
                  <a:schemeClr val="accent1"/>
                </a:solidFill>
                <a:latin typeface="Calibri" pitchFamily="34" charset="0"/>
                <a:ea typeface="Calibri" pitchFamily="34" charset="-122"/>
                <a:cs typeface="Calibri" pitchFamily="34" charset="-120"/>
              </a:rPr>
              <a:t>Proves: </a:t>
            </a:r>
            <a:pPr indent="0" marL="0">
              <a:buNone/>
            </a:pPr>
            <a:r>
              <a:rPr lang="en-US" sz="1250" dirty="0">
                <a:solidFill>
                  <a:schemeClr val="accent2"/>
                </a:solidFill>
                <a:latin typeface="Calibri" pitchFamily="34" charset="0"/>
                <a:ea typeface="Calibri" pitchFamily="34" charset="-122"/>
                <a:cs typeface="Calibri" pitchFamily="34" charset="-120"/>
              </a:rPr>
              <a:t>all 24 tests pass; on the real leslie3d trace (21 frames) the final system cuts faults from 15,313 (LRU) to 8,133, 46.9% fewer, in 1.2 s.</a:t>
            </a:r>
            <a:endParaRPr lang="en-US" sz="1250" dirty="0"/>
          </a:p>
        </p:txBody>
      </p:sp>
      <p:pic>
        <p:nvPicPr>
          <p:cNvPr id="5" name="shot-152" descr="Generated HTML results report">    </p:cNvPr>
          <p:cNvPicPr>
            <a:picLocks noChangeAspect="1"/>
          </p:cNvPicPr>
          <p:nvPr/>
        </p:nvPicPr>
        <p:blipFill>
          <a:blip r:embed="rId2"/>
          <a:stretch>
            <a:fillRect/>
          </a:stretch>
        </p:blipFill>
        <p:spPr>
          <a:xfrm>
            <a:off x="6903720" y="1188720"/>
            <a:ext cx="4754880" cy="1760220"/>
          </a:xfrm>
          <a:prstGeom prst="rect">
            <a:avLst/>
          </a:prstGeom>
        </p:spPr>
      </p:pic>
      <p:sp>
        <p:nvSpPr>
          <p:cNvPr id="6" name="text-153"/>
          <p:cNvSpPr txBox="1"/>
          <p:nvPr/>
        </p:nvSpPr>
        <p:spPr>
          <a:xfrm>
            <a:off x="6903720" y="3017520"/>
            <a:ext cx="4754880" cy="685800"/>
          </a:xfrm>
          <a:prstGeom prst="rect">
            <a:avLst/>
          </a:prstGeom>
          <a:noFill/>
          <a:ln/>
        </p:spPr>
        <p:txBody>
          <a:bodyPr wrap="square" lIns="0" tIns="0" rIns="0" bIns="0" rtlCol="0" anchor="t"/>
          <a:lstStyle/>
          <a:p>
            <a:pPr indent="0" marL="0">
              <a:buNone/>
            </a:pPr>
            <a:r>
              <a:rPr lang="en-US" sz="1250" b="1" dirty="0">
                <a:solidFill>
                  <a:schemeClr val="accent1"/>
                </a:solidFill>
                <a:latin typeface="Calibri" pitchFamily="34" charset="0"/>
                <a:ea typeface="Calibri" pitchFamily="34" charset="-122"/>
                <a:cs typeface="Calibri" pitchFamily="34" charset="-120"/>
              </a:rPr>
              <a:t>Proves: </a:t>
            </a:r>
            <a:pPr indent="0" marL="0">
              <a:buNone/>
            </a:pPr>
            <a:r>
              <a:rPr lang="en-US" sz="1250" dirty="0">
                <a:solidFill>
                  <a:schemeClr val="accent2"/>
                </a:solidFill>
                <a:latin typeface="Calibri" pitchFamily="34" charset="0"/>
                <a:ea typeface="Calibri" pitchFamily="34" charset="-122"/>
                <a:cs typeface="Calibri" pitchFamily="34" charset="-120"/>
              </a:rPr>
              <a:t>one command regenerates every result into a self-contained report (16 sections, read from the result files).</a:t>
            </a:r>
            <a:endParaRPr lang="en-US" sz="1250" dirty="0"/>
          </a:p>
        </p:txBody>
      </p:sp>
      <p:sp>
        <p:nvSpPr>
          <p:cNvPr id="7" name="card-154"/>
          <p:cNvSpPr/>
          <p:nvPr/>
        </p:nvSpPr>
        <p:spPr>
          <a:xfrm>
            <a:off x="548640" y="4343400"/>
            <a:ext cx="11109960" cy="1691640"/>
          </a:xfrm>
          <a:prstGeom prst="roundRect">
            <a:avLst>
              <a:gd name="adj" fmla="val 4324"/>
            </a:avLst>
          </a:prstGeom>
          <a:solidFill>
            <a:schemeClr val="bg2"/>
          </a:solidFill>
          <a:ln w="12700">
            <a:solidFill>
              <a:schemeClr val="bg2"/>
            </a:solidFill>
            <a:prstDash val="solid"/>
          </a:ln>
        </p:spPr>
      </p:sp>
      <p:sp>
        <p:nvSpPr>
          <p:cNvPr id="8" name="text-155"/>
          <p:cNvSpPr txBox="1"/>
          <p:nvPr/>
        </p:nvSpPr>
        <p:spPr>
          <a:xfrm>
            <a:off x="777240" y="4462272"/>
            <a:ext cx="10698480" cy="36576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End-to-end example (computed by the real code): a loop of 5 pages repeated 3 times, 4 frames of RAM</a:t>
            </a:r>
            <a:endParaRPr lang="en-US" sz="1400" dirty="0"/>
          </a:p>
        </p:txBody>
      </p:sp>
      <p:sp>
        <p:nvSpPr>
          <p:cNvPr id="9" name="text-156"/>
          <p:cNvSpPr txBox="1"/>
          <p:nvPr/>
        </p:nvSpPr>
        <p:spPr>
          <a:xfrm>
            <a:off x="777240" y="4892040"/>
            <a:ext cx="3429000" cy="109728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Plain LRU  </a:t>
            </a:r>
            <a:pPr indent="0" marL="0">
              <a:buNone/>
            </a:pPr>
            <a:r>
              <a:rPr lang="en-US" sz="1300" b="1" dirty="0">
                <a:solidFill>
                  <a:schemeClr val="tx1"/>
                </a:solidFill>
                <a:latin typeface="Calibri" pitchFamily="34" charset="0"/>
                <a:ea typeface="Calibri" pitchFamily="34" charset="-122"/>
                <a:cs typeface="Calibri" pitchFamily="34" charset="-120"/>
              </a:rPr>
              <a:t>15 faults</a:t>
            </a:r>
            <a:endParaRPr lang="en-US" sz="1300" dirty="0"/>
          </a:p>
          <a:p>
            <a:pPr indent="0" marL="0">
              <a:buNone/>
            </a:pPr>
            <a:r>
              <a:rPr lang="en-US" sz="1250" dirty="0">
                <a:solidFill>
                  <a:schemeClr val="accent2"/>
                </a:solidFill>
                <a:latin typeface="Calibri" pitchFamily="34" charset="0"/>
                <a:ea typeface="Calibri" pitchFamily="34" charset="-122"/>
                <a:cs typeface="Calibri" pitchFamily="34" charset="-120"/>
              </a:rPr>
              <a:t>loop is one page larger than RAM, so LRU always evicts the page needed next</a:t>
            </a:r>
            <a:endParaRPr lang="en-US" sz="1300" dirty="0"/>
          </a:p>
        </p:txBody>
      </p:sp>
      <p:sp>
        <p:nvSpPr>
          <p:cNvPr id="10" name="text-157"/>
          <p:cNvSpPr txBox="1"/>
          <p:nvPr/>
        </p:nvSpPr>
        <p:spPr>
          <a:xfrm>
            <a:off x="4389120" y="4892040"/>
            <a:ext cx="3429000" cy="109728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With prediction  </a:t>
            </a:r>
            <a:pPr indent="0" marL="0">
              <a:buNone/>
            </a:pPr>
            <a:r>
              <a:rPr lang="en-US" sz="1300" b="1" dirty="0">
                <a:solidFill>
                  <a:schemeClr val="accent1"/>
                </a:solidFill>
                <a:latin typeface="Calibri" pitchFamily="34" charset="0"/>
                <a:ea typeface="Calibri" pitchFamily="34" charset="-122"/>
                <a:cs typeface="Calibri" pitchFamily="34" charset="-120"/>
              </a:rPr>
              <a:t>5 faults</a:t>
            </a:r>
            <a:endParaRPr lang="en-US" sz="1300" dirty="0"/>
          </a:p>
          <a:p>
            <a:pPr indent="0" marL="0">
              <a:buNone/>
            </a:pPr>
            <a:r>
              <a:rPr lang="en-US" sz="1250" dirty="0">
                <a:solidFill>
                  <a:schemeClr val="accent2"/>
                </a:solidFill>
                <a:latin typeface="Calibri" pitchFamily="34" charset="0"/>
                <a:ea typeface="Calibri" pitchFamily="34" charset="-122"/>
                <a:cs typeface="Calibri" pitchFamily="34" charset="-120"/>
              </a:rPr>
              <a:t>stride spots +1,+1,+1 and prefetches page 5; the Markov table then learns the loop and every request hits</a:t>
            </a:r>
            <a:endParaRPr lang="en-US" sz="1300" dirty="0"/>
          </a:p>
        </p:txBody>
      </p:sp>
      <p:sp>
        <p:nvSpPr>
          <p:cNvPr id="11" name="text-158"/>
          <p:cNvSpPr txBox="1"/>
          <p:nvPr/>
        </p:nvSpPr>
        <p:spPr>
          <a:xfrm>
            <a:off x="8001000" y="4892040"/>
            <a:ext cx="3429000" cy="109728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A wrong guess  </a:t>
            </a:r>
            <a:pPr indent="0" marL="0">
              <a:buNone/>
            </a:pPr>
            <a:r>
              <a:rPr lang="en-US" sz="1300" b="1" dirty="0">
                <a:solidFill>
                  <a:schemeClr val="tx1"/>
                </a:solidFill>
                <a:latin typeface="Calibri" pitchFamily="34" charset="0"/>
                <a:ea typeface="Calibri" pitchFamily="34" charset="-122"/>
                <a:cs typeface="Calibri" pitchFamily="34" charset="-120"/>
              </a:rPr>
              <a:t>page 6</a:t>
            </a:r>
            <a:endParaRPr lang="en-US" sz="1300" dirty="0"/>
          </a:p>
          <a:p>
            <a:pPr indent="0" marL="0">
              <a:buNone/>
            </a:pPr>
            <a:r>
              <a:rPr lang="en-US" sz="1250" dirty="0">
                <a:solidFill>
                  <a:schemeClr val="accent2"/>
                </a:solidFill>
                <a:latin typeface="Calibri" pitchFamily="34" charset="0"/>
                <a:ea typeface="Calibri" pitchFamily="34" charset="-122"/>
                <a:cs typeface="Calibri" pitchFamily="34" charset="-120"/>
              </a:rPr>
              <a:t>predicted but never used: it evicted page 2 (brought back later), showing why a decision engine is needed</a:t>
            </a:r>
            <a:endParaRPr lang="en-US" sz="13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Results: fewest page faults; in time it ties readahead</a:t>
            </a:r>
            <a:endParaRPr lang="en-US" sz="3000" dirty="0"/>
          </a:p>
        </p:txBody>
      </p:sp>
      <p:graphicFrame>
        <p:nvGraphicFramePr>
          <p:cNvPr id="3" name="chart-159" descr=""/>
          <p:cNvGraphicFramePr/>
          <p:nvPr/>
        </p:nvGraphicFramePr>
        <p:xfrm>
          <a:off x="457200" y="1143000"/>
          <a:ext cx="4206240" cy="37490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160" descr=""/>
          <p:cNvGraphicFramePr/>
          <p:nvPr/>
        </p:nvGraphicFramePr>
        <p:xfrm>
          <a:off x="4800600" y="1143000"/>
          <a:ext cx="3886200" cy="3749040"/>
        </p:xfrm>
        <a:graphic xmlns:a="http://schemas.openxmlformats.org/drawingml/2006/main">
          <a:graphicData uri="http://schemas.openxmlformats.org/drawingml/2006/chart">
            <c:chart xmlns:c="http://schemas.openxmlformats.org/drawingml/2006/chart" r:id="rId2"/>
          </a:graphicData>
        </a:graphic>
      </p:graphicFrame>
      <p:sp>
        <p:nvSpPr>
          <p:cNvPr id="5" name="card-161"/>
          <p:cNvSpPr/>
          <p:nvPr/>
        </p:nvSpPr>
        <p:spPr>
          <a:xfrm>
            <a:off x="8915400" y="1188720"/>
            <a:ext cx="2743200" cy="3429000"/>
          </a:xfrm>
          <a:prstGeom prst="roundRect">
            <a:avLst>
              <a:gd name="adj" fmla="val 2667"/>
            </a:avLst>
          </a:prstGeom>
          <a:solidFill>
            <a:schemeClr val="bg2"/>
          </a:solidFill>
          <a:ln w="12700">
            <a:solidFill>
              <a:schemeClr val="bg2"/>
            </a:solidFill>
            <a:prstDash val="solid"/>
          </a:ln>
        </p:spPr>
      </p:sp>
      <p:sp>
        <p:nvSpPr>
          <p:cNvPr id="6" name="text-162"/>
          <p:cNvSpPr txBox="1"/>
          <p:nvPr/>
        </p:nvSpPr>
        <p:spPr>
          <a:xfrm>
            <a:off x="9098280" y="1325880"/>
            <a:ext cx="2423160" cy="34747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Testing</a:t>
            </a:r>
            <a:endParaRPr lang="en-US" sz="1500" dirty="0"/>
          </a:p>
          <a:p>
            <a:pPr indent="0" marL="0">
              <a:buNone/>
            </a:pPr>
            <a:r>
              <a:rPr lang="en-US" sz="2200" b="1" dirty="0">
                <a:solidFill>
                  <a:schemeClr val="accent1"/>
                </a:solidFill>
                <a:latin typeface="Calibri" pitchFamily="34" charset="0"/>
                <a:ea typeface="Calibri" pitchFamily="34" charset="-122"/>
                <a:cs typeface="Calibri" pitchFamily="34" charset="-120"/>
              </a:rPr>
              <a:t>24 / 24</a:t>
            </a:r>
            <a:endParaRPr lang="en-US" sz="1500" dirty="0"/>
          </a:p>
          <a:p>
            <a:pPr indent="0" marL="0">
              <a:buNone/>
            </a:pPr>
            <a:r>
              <a:rPr lang="en-US" sz="1200" dirty="0">
                <a:solidFill>
                  <a:schemeClr val="accent2"/>
                </a:solidFill>
                <a:latin typeface="Calibri" pitchFamily="34" charset="0"/>
                <a:ea typeface="Calibri" pitchFamily="34" charset="-122"/>
                <a:cs typeface="Calibri" pitchFamily="34" charset="-120"/>
              </a:rPr>
              <a:t>automated tests pass</a:t>
            </a:r>
            <a:endParaRPr lang="en-US" sz="1500" dirty="0"/>
          </a:p>
          <a:p>
            <a:pPr indent="0" marL="0">
              <a:spcBef>
                <a:spcPts val="600"/>
              </a:spcBef>
              <a:buNone/>
            </a:pPr>
            <a:r>
              <a:rPr lang="en-US" sz="2200" b="1" dirty="0">
                <a:solidFill>
                  <a:schemeClr val="accent1"/>
                </a:solidFill>
                <a:latin typeface="Calibri" pitchFamily="34" charset="0"/>
                <a:ea typeface="Calibri" pitchFamily="34" charset="-122"/>
                <a:cs typeface="Calibri" pitchFamily="34" charset="-120"/>
              </a:rPr>
              <a:t>48 / 48</a:t>
            </a:r>
            <a:endParaRPr lang="en-US" sz="1500" dirty="0"/>
          </a:p>
          <a:p>
            <a:pPr indent="0" marL="0">
              <a:buNone/>
            </a:pPr>
            <a:r>
              <a:rPr lang="en-US" sz="1200" dirty="0">
                <a:solidFill>
                  <a:schemeClr val="accent2"/>
                </a:solidFill>
                <a:latin typeface="Calibri" pitchFamily="34" charset="0"/>
                <a:ea typeface="Calibri" pitchFamily="34" charset="-122"/>
                <a:cs typeface="Calibri" pitchFamily="34" charset="-120"/>
              </a:rPr>
              <a:t>rows of the original Colab results reproduced exactly</a:t>
            </a:r>
            <a:endParaRPr lang="en-US" sz="1500" dirty="0"/>
          </a:p>
          <a:p>
            <a:pPr indent="0" marL="0">
              <a:spcBef>
                <a:spcPts val="600"/>
              </a:spcBef>
              <a:buNone/>
            </a:pPr>
            <a:r>
              <a:rPr lang="en-US" sz="2200" b="1" dirty="0">
                <a:solidFill>
                  <a:schemeClr val="accent1"/>
                </a:solidFill>
                <a:latin typeface="Calibri" pitchFamily="34" charset="0"/>
                <a:ea typeface="Calibri" pitchFamily="34" charset="-122"/>
                <a:cs typeface="Calibri" pitchFamily="34" charset="-120"/>
              </a:rPr>
              <a:t>0</a:t>
            </a:r>
            <a:endParaRPr lang="en-US" sz="1500" dirty="0"/>
          </a:p>
          <a:p>
            <a:pPr indent="0" marL="0">
              <a:buNone/>
            </a:pPr>
            <a:r>
              <a:rPr lang="en-US" sz="1200" dirty="0">
                <a:solidFill>
                  <a:schemeClr val="accent2"/>
                </a:solidFill>
                <a:latin typeface="Calibri" pitchFamily="34" charset="0"/>
                <a:ea typeface="Calibri" pitchFamily="34" charset="-122"/>
                <a:cs typeface="Calibri" pitchFamily="34" charset="-120"/>
              </a:rPr>
              <a:t>mismatches vs independent LRU/FIFO/OPT on 40 traces</a:t>
            </a:r>
            <a:endParaRPr lang="en-US" sz="1500" dirty="0"/>
          </a:p>
        </p:txBody>
      </p:sp>
      <p:sp>
        <p:nvSpPr>
          <p:cNvPr id="7" name="text-163"/>
          <p:cNvSpPr txBox="1"/>
          <p:nvPr/>
        </p:nvSpPr>
        <p:spPr>
          <a:xfrm>
            <a:off x="548640" y="5074920"/>
            <a:ext cx="11109960" cy="1188720"/>
          </a:xfrm>
          <a:prstGeom prst="rect">
            <a:avLst/>
          </a:prstGeom>
          <a:noFill/>
          <a:ln/>
        </p:spPr>
        <p:txBody>
          <a:bodyPr wrap="square" lIns="0" tIns="0" rIns="0" bIns="0" rtlCol="0" anchor="t"/>
          <a:lstStyle/>
          <a:p>
            <a:pPr marL="177800" indent="-177800">
              <a:spcAft>
                <a:spcPts val="500"/>
              </a:spcAft>
              <a:buSzPct val="100000"/>
              <a:buChar char="•"/>
            </a:pPr>
            <a:r>
              <a:rPr lang="en-US" sz="1300" b="1" dirty="0">
                <a:solidFill>
                  <a:schemeClr val="tx1"/>
                </a:solidFill>
                <a:latin typeface="Calibri" pitchFamily="34" charset="0"/>
                <a:ea typeface="Calibri" pitchFamily="34" charset="-122"/>
                <a:cs typeface="Calibri" pitchFamily="34" charset="-120"/>
              </a:rPr>
              <a:t>Fewer faults: </a:t>
            </a:r>
            <a:pPr indent="0" marL="0">
              <a:spcAft>
                <a:spcPts val="500"/>
              </a:spcAft>
              <a:buNone/>
            </a:pPr>
            <a:r>
              <a:rPr lang="en-US" sz="1300" dirty="0">
                <a:solidFill>
                  <a:srgbClr val="6B665E"/>
                </a:solidFill>
                <a:latin typeface="Calibri" pitchFamily="34" charset="0"/>
                <a:ea typeface="Calibri" pitchFamily="34" charset="-122"/>
                <a:cs typeface="Calibri" pitchFamily="34" charset="-120"/>
              </a:rPr>
              <a:t>fewer than readahead in 34 of 44, below OPT in 30 of 44 (prefetching avoids first visits); worst case −3.3% vs readahead −19.3%</a:t>
            </a:r>
            <a:endParaRPr lang="en-US" sz="1300" dirty="0"/>
          </a:p>
          <a:p>
            <a:pPr marL="177800" indent="-177800">
              <a:spcAft>
                <a:spcPts val="500"/>
              </a:spcAft>
              <a:buSzPct val="100000"/>
              <a:buChar char="•"/>
            </a:pPr>
            <a:r>
              <a:rPr lang="en-US" sz="1300" b="1" dirty="0">
                <a:solidFill>
                  <a:schemeClr val="tx1"/>
                </a:solidFill>
                <a:latin typeface="Calibri" pitchFamily="34" charset="0"/>
                <a:ea typeface="Calibri" pitchFamily="34" charset="-122"/>
                <a:cs typeface="Calibri" pitchFamily="34" charset="-120"/>
              </a:rPr>
              <a:t>Time: </a:t>
            </a:r>
            <a:pPr indent="0" marL="0">
              <a:spcAft>
                <a:spcPts val="500"/>
              </a:spcAft>
              <a:buNone/>
            </a:pPr>
            <a:r>
              <a:rPr lang="en-US" sz="1300" dirty="0">
                <a:solidFill>
                  <a:srgbClr val="6B665E"/>
                </a:solidFill>
                <a:latin typeface="Calibri" pitchFamily="34" charset="0"/>
                <a:ea typeface="Calibri" pitchFamily="34" charset="-122"/>
                <a:cs typeface="Calibri" pitchFamily="34" charset="-120"/>
              </a:rPr>
              <a:t>faster than LRU on an SSD (1.43×, level with readahead); slower on a single-channel hard disk. Model estimates, not hardware measurements</a:t>
            </a:r>
            <a:endParaRPr lang="en-US" sz="13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Contributions, limitations and future scope</a:t>
            </a:r>
            <a:endParaRPr lang="en-US" sz="3000" dirty="0"/>
          </a:p>
        </p:txBody>
      </p:sp>
      <p:sp>
        <p:nvSpPr>
          <p:cNvPr id="3" name="card-164"/>
          <p:cNvSpPr/>
          <p:nvPr/>
        </p:nvSpPr>
        <p:spPr>
          <a:xfrm>
            <a:off x="548640" y="1188720"/>
            <a:ext cx="3566160" cy="4663440"/>
          </a:xfrm>
          <a:prstGeom prst="roundRect">
            <a:avLst>
              <a:gd name="adj" fmla="val 2051"/>
            </a:avLst>
          </a:prstGeom>
          <a:solidFill>
            <a:srgbClr val="F7EAD9"/>
          </a:solidFill>
          <a:ln w="12700">
            <a:solidFill>
              <a:srgbClr val="F7EAD9"/>
            </a:solidFill>
            <a:prstDash val="solid"/>
          </a:ln>
        </p:spPr>
      </p:sp>
      <p:sp>
        <p:nvSpPr>
          <p:cNvPr id="4" name="text-165"/>
          <p:cNvSpPr txBox="1"/>
          <p:nvPr/>
        </p:nvSpPr>
        <p:spPr>
          <a:xfrm>
            <a:off x="777240" y="1353312"/>
            <a:ext cx="3108960" cy="41148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Demonstrated contributions</a:t>
            </a:r>
            <a:endParaRPr lang="en-US" sz="1700" dirty="0"/>
          </a:p>
        </p:txBody>
      </p:sp>
      <p:sp>
        <p:nvSpPr>
          <p:cNvPr id="5" name="text-166"/>
          <p:cNvSpPr txBox="1"/>
          <p:nvPr/>
        </p:nvSpPr>
        <p:spPr>
          <a:xfrm>
            <a:off x="777240" y="1874520"/>
            <a:ext cx="3154680" cy="3840480"/>
          </a:xfrm>
          <a:prstGeom prst="rect">
            <a:avLst/>
          </a:prstGeom>
          <a:noFill/>
          <a:ln/>
        </p:spPr>
        <p:txBody>
          <a:bodyPr wrap="square" lIns="0" tIns="0" rIns="0" bIns="0" rtlCol="0" anchor="t"/>
          <a:lstStyle/>
          <a:p>
            <a:pPr marL="177800" indent="-1778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Evidence that measured fault delta is the right feedback; confidence and precision mislead</a:t>
            </a:r>
            <a:endParaRPr lang="en-US" sz="1450" dirty="0"/>
          </a:p>
          <a:p>
            <a:pPr marL="177800" indent="-1778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Shadow directory: exact feedback at ~0.2% of RAM, samplable to 1/8</a:t>
            </a:r>
            <a:endParaRPr lang="en-US" sz="1450" dirty="0"/>
          </a:p>
          <a:p>
            <a:pPr marL="177800" indent="-1778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Readahead + delta-Markov: +55.0% mean, most of any system tested</a:t>
            </a:r>
            <a:endParaRPr lang="en-US" sz="1450" dirty="0"/>
          </a:p>
          <a:p>
            <a:pPr marL="177800" indent="-1778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Time model showing when fewer faults mean faster programs</a:t>
            </a:r>
            <a:endParaRPr lang="en-US" sz="1450" dirty="0"/>
          </a:p>
          <a:p>
            <a:pPr marL="177800" indent="-1778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Reproducible open repository with 24 tests and a full report</a:t>
            </a:r>
            <a:endParaRPr lang="en-US" sz="1450" dirty="0"/>
          </a:p>
        </p:txBody>
      </p:sp>
      <p:sp>
        <p:nvSpPr>
          <p:cNvPr id="6" name="card-167"/>
          <p:cNvSpPr/>
          <p:nvPr/>
        </p:nvSpPr>
        <p:spPr>
          <a:xfrm>
            <a:off x="4297680" y="1188720"/>
            <a:ext cx="3566160" cy="4663440"/>
          </a:xfrm>
          <a:prstGeom prst="roundRect">
            <a:avLst>
              <a:gd name="adj" fmla="val 2051"/>
            </a:avLst>
          </a:prstGeom>
          <a:solidFill>
            <a:schemeClr val="bg2"/>
          </a:solidFill>
          <a:ln w="12700">
            <a:solidFill>
              <a:schemeClr val="bg2"/>
            </a:solidFill>
            <a:prstDash val="solid"/>
          </a:ln>
        </p:spPr>
      </p:sp>
      <p:sp>
        <p:nvSpPr>
          <p:cNvPr id="7" name="text-168"/>
          <p:cNvSpPr txBox="1"/>
          <p:nvPr/>
        </p:nvSpPr>
        <p:spPr>
          <a:xfrm>
            <a:off x="4526280" y="1353312"/>
            <a:ext cx="310896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Limitations</a:t>
            </a:r>
            <a:endParaRPr lang="en-US" sz="1700" dirty="0"/>
          </a:p>
        </p:txBody>
      </p:sp>
      <p:sp>
        <p:nvSpPr>
          <p:cNvPr id="8" name="text-169"/>
          <p:cNvSpPr txBox="1"/>
          <p:nvPr/>
        </p:nvSpPr>
        <p:spPr>
          <a:xfrm>
            <a:off x="4526280" y="1874520"/>
            <a:ext cx="3154680" cy="3840480"/>
          </a:xfrm>
          <a:prstGeom prst="rect">
            <a:avLst/>
          </a:prstGeom>
          <a:noFill/>
          <a:ln/>
        </p:spPr>
        <p:txBody>
          <a:bodyPr wrap="square" lIns="0" tIns="0" rIns="0" bIns="0" rtlCol="0" anchor="t"/>
          <a:lstStyle/>
          <a:p>
            <a:pPr marL="177800" indent="-1778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Cache-level traces mapped to pages approximate OS paging</a:t>
            </a:r>
            <a:endParaRPr lang="en-US" sz="1450" dirty="0"/>
          </a:p>
          <a:p>
            <a:pPr marL="177800" indent="-1778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Time results are model estimates, not hardware measurements</a:t>
            </a:r>
            <a:endParaRPr lang="en-US" sz="1450" dirty="0"/>
          </a:p>
          <a:p>
            <a:pPr marL="177800" indent="-1778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Predictor sees every request; a kernel sees only faults</a:t>
            </a:r>
            <a:endParaRPr lang="en-US" sz="1450" dirty="0"/>
          </a:p>
          <a:p>
            <a:pPr marL="177800" indent="-1778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Slower than LRU on hard disks; only ties readahead in time</a:t>
            </a:r>
            <a:endParaRPr lang="en-US" sz="1450" dirty="0"/>
          </a:p>
          <a:p>
            <a:pPr marL="177800" indent="-1778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200,000 requests per trace; one run per configuration</a:t>
            </a:r>
            <a:endParaRPr lang="en-US" sz="1450" dirty="0"/>
          </a:p>
        </p:txBody>
      </p:sp>
      <p:sp>
        <p:nvSpPr>
          <p:cNvPr id="9" name="card-170"/>
          <p:cNvSpPr/>
          <p:nvPr/>
        </p:nvSpPr>
        <p:spPr>
          <a:xfrm>
            <a:off x="8046720" y="1188720"/>
            <a:ext cx="3566160" cy="4663440"/>
          </a:xfrm>
          <a:prstGeom prst="roundRect">
            <a:avLst>
              <a:gd name="adj" fmla="val 2051"/>
            </a:avLst>
          </a:prstGeom>
          <a:solidFill>
            <a:schemeClr val="bg2"/>
          </a:solidFill>
          <a:ln w="12700">
            <a:solidFill>
              <a:schemeClr val="bg2"/>
            </a:solidFill>
            <a:prstDash val="solid"/>
          </a:ln>
        </p:spPr>
      </p:sp>
      <p:sp>
        <p:nvSpPr>
          <p:cNvPr id="10" name="text-171"/>
          <p:cNvSpPr txBox="1"/>
          <p:nvPr/>
        </p:nvSpPr>
        <p:spPr>
          <a:xfrm>
            <a:off x="8275320" y="1353312"/>
            <a:ext cx="310896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Future scope</a:t>
            </a:r>
            <a:endParaRPr lang="en-US" sz="1700" dirty="0"/>
          </a:p>
        </p:txBody>
      </p:sp>
      <p:sp>
        <p:nvSpPr>
          <p:cNvPr id="11" name="text-172"/>
          <p:cNvSpPr txBox="1"/>
          <p:nvPr/>
        </p:nvSpPr>
        <p:spPr>
          <a:xfrm>
            <a:off x="8275320" y="1874520"/>
            <a:ext cx="3154680" cy="3840480"/>
          </a:xfrm>
          <a:prstGeom prst="rect">
            <a:avLst/>
          </a:prstGeom>
          <a:noFill/>
          <a:ln/>
        </p:spPr>
        <p:txBody>
          <a:bodyPr wrap="square" lIns="0" tIns="0" rIns="0" bIns="0" rtlCol="0" anchor="t"/>
          <a:lstStyle/>
          <a:p>
            <a:pPr marL="177800" indent="-1778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Evaluate on OS page-fault traces or inside a kernel</a:t>
            </a:r>
            <a:endParaRPr lang="en-US" sz="1450" dirty="0"/>
          </a:p>
          <a:p>
            <a:pPr marL="177800" indent="-1778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Demand-read priority and prefetch-distance control</a:t>
            </a:r>
            <a:endParaRPr lang="en-US" sz="1450" dirty="0"/>
          </a:p>
          <a:p>
            <a:pPr marL="177800" indent="-1778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Compare with a learned (LSTM / attention) predictor</a:t>
            </a:r>
            <a:endParaRPr lang="en-US" sz="1450" dirty="0"/>
          </a:p>
          <a:p>
            <a:pPr marL="177800" indent="-1778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Validate directory sampling at real memory sizes</a:t>
            </a:r>
            <a:endParaRPr lang="en-US" sz="1450" dirty="0"/>
          </a:p>
          <a:p>
            <a:pPr marL="177800" indent="-1778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Possible student or regional-conference paper (draft written; acceptance not assumed)</a:t>
            </a:r>
            <a:endParaRPr lang="en-US" sz="145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173"/>
          <p:cNvSpPr txBox="1"/>
          <p:nvPr/>
        </p:nvSpPr>
        <p:spPr>
          <a:xfrm>
            <a:off x="640080" y="685800"/>
            <a:ext cx="5486400" cy="320040"/>
          </a:xfrm>
          <a:prstGeom prst="rect">
            <a:avLst/>
          </a:prstGeom>
          <a:noFill/>
          <a:ln/>
        </p:spPr>
        <p:txBody>
          <a:bodyPr wrap="square" lIns="0" tIns="0" rIns="0" bIns="0" rtlCol="0" anchor="t"/>
          <a:lstStyle/>
          <a:p>
            <a:pPr indent="0" marL="0">
              <a:buNone/>
            </a:pPr>
            <a:r>
              <a:rPr lang="en-US" sz="1300" b="1" spc="200" kern="0" dirty="0">
                <a:solidFill>
                  <a:schemeClr val="accent5"/>
                </a:solidFill>
                <a:latin typeface="Calibri" pitchFamily="34" charset="0"/>
                <a:ea typeface="Calibri" pitchFamily="34" charset="-122"/>
                <a:cs typeface="Calibri" pitchFamily="34" charset="-120"/>
              </a:rPr>
              <a:t>CONCLUSION</a:t>
            </a:r>
            <a:endParaRPr lang="en-US" sz="1300" dirty="0"/>
          </a:p>
        </p:txBody>
      </p:sp>
      <p:sp>
        <p:nvSpPr>
          <p:cNvPr id="3" name="text-174"/>
          <p:cNvSpPr txBox="1"/>
          <p:nvPr/>
        </p:nvSpPr>
        <p:spPr>
          <a:xfrm>
            <a:off x="640080" y="1188720"/>
            <a:ext cx="2011680" cy="640080"/>
          </a:xfrm>
          <a:prstGeom prst="rect">
            <a:avLst/>
          </a:prstGeom>
          <a:noFill/>
          <a:ln/>
        </p:spPr>
        <p:txBody>
          <a:bodyPr wrap="square" lIns="0" tIns="0" rIns="0" bIns="0" rtlCol="0" anchor="t"/>
          <a:lstStyle/>
          <a:p>
            <a:pPr indent="0" marL="0">
              <a:buNone/>
            </a:pPr>
            <a:r>
              <a:rPr lang="en-US" sz="1500" b="1" dirty="0">
                <a:solidFill>
                  <a:schemeClr val="accent5"/>
                </a:solidFill>
                <a:latin typeface="Calibri" pitchFamily="34" charset="0"/>
                <a:ea typeface="Calibri" pitchFamily="34" charset="-122"/>
                <a:cs typeface="Calibri" pitchFamily="34" charset="-120"/>
              </a:rPr>
              <a:t>Problem</a:t>
            </a:r>
            <a:endParaRPr lang="en-US" sz="1500" dirty="0"/>
          </a:p>
        </p:txBody>
      </p:sp>
      <p:sp>
        <p:nvSpPr>
          <p:cNvPr id="4" name="text-175"/>
          <p:cNvSpPr txBox="1"/>
          <p:nvPr/>
        </p:nvSpPr>
        <p:spPr>
          <a:xfrm>
            <a:off x="2697480" y="1188720"/>
            <a:ext cx="4846320" cy="68580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page faults stall programs; prefetching can backfire</a:t>
            </a:r>
            <a:endParaRPr lang="en-US" sz="1500" dirty="0"/>
          </a:p>
        </p:txBody>
      </p:sp>
      <p:sp>
        <p:nvSpPr>
          <p:cNvPr id="5" name="text-176"/>
          <p:cNvSpPr txBox="1"/>
          <p:nvPr/>
        </p:nvSpPr>
        <p:spPr>
          <a:xfrm>
            <a:off x="640080" y="1938528"/>
            <a:ext cx="2011680" cy="640080"/>
          </a:xfrm>
          <a:prstGeom prst="rect">
            <a:avLst/>
          </a:prstGeom>
          <a:noFill/>
          <a:ln/>
        </p:spPr>
        <p:txBody>
          <a:bodyPr wrap="square" lIns="0" tIns="0" rIns="0" bIns="0" rtlCol="0" anchor="t"/>
          <a:lstStyle/>
          <a:p>
            <a:pPr indent="0" marL="0">
              <a:buNone/>
            </a:pPr>
            <a:r>
              <a:rPr lang="en-US" sz="1500" b="1" dirty="0">
                <a:solidFill>
                  <a:schemeClr val="accent5"/>
                </a:solidFill>
                <a:latin typeface="Calibri" pitchFamily="34" charset="0"/>
                <a:ea typeface="Calibri" pitchFamily="34" charset="-122"/>
                <a:cs typeface="Calibri" pitchFamily="34" charset="-120"/>
              </a:rPr>
              <a:t>Solution</a:t>
            </a:r>
            <a:endParaRPr lang="en-US" sz="1500" dirty="0"/>
          </a:p>
        </p:txBody>
      </p:sp>
      <p:sp>
        <p:nvSpPr>
          <p:cNvPr id="6" name="text-177"/>
          <p:cNvSpPr txBox="1"/>
          <p:nvPr/>
        </p:nvSpPr>
        <p:spPr>
          <a:xfrm>
            <a:off x="2697480" y="1938528"/>
            <a:ext cx="4846320" cy="68580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readahead + delta-Markov prediction, gated by measured fault delta</a:t>
            </a:r>
            <a:endParaRPr lang="en-US" sz="1500" dirty="0"/>
          </a:p>
        </p:txBody>
      </p:sp>
      <p:sp>
        <p:nvSpPr>
          <p:cNvPr id="7" name="text-178"/>
          <p:cNvSpPr txBox="1"/>
          <p:nvPr/>
        </p:nvSpPr>
        <p:spPr>
          <a:xfrm>
            <a:off x="640080" y="2688336"/>
            <a:ext cx="2011680" cy="640080"/>
          </a:xfrm>
          <a:prstGeom prst="rect">
            <a:avLst/>
          </a:prstGeom>
          <a:noFill/>
          <a:ln/>
        </p:spPr>
        <p:txBody>
          <a:bodyPr wrap="square" lIns="0" tIns="0" rIns="0" bIns="0" rtlCol="0" anchor="t"/>
          <a:lstStyle/>
          <a:p>
            <a:pPr indent="0" marL="0">
              <a:buNone/>
            </a:pPr>
            <a:r>
              <a:rPr lang="en-US" sz="1500" b="1" dirty="0">
                <a:solidFill>
                  <a:schemeClr val="accent5"/>
                </a:solidFill>
                <a:latin typeface="Calibri" pitchFamily="34" charset="0"/>
                <a:ea typeface="Calibri" pitchFamily="34" charset="-122"/>
                <a:cs typeface="Calibri" pitchFamily="34" charset="-120"/>
              </a:rPr>
              <a:t>Key achievement</a:t>
            </a:r>
            <a:endParaRPr lang="en-US" sz="1500" dirty="0"/>
          </a:p>
        </p:txBody>
      </p:sp>
      <p:sp>
        <p:nvSpPr>
          <p:cNvPr id="8" name="text-179"/>
          <p:cNvSpPr txBox="1"/>
          <p:nvPr/>
        </p:nvSpPr>
        <p:spPr>
          <a:xfrm>
            <a:off x="2697480" y="2688336"/>
            <a:ext cx="4846320" cy="68580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exact, cheap feedback via a page-ID shadow directory</a:t>
            </a:r>
            <a:endParaRPr lang="en-US" sz="1500" dirty="0"/>
          </a:p>
        </p:txBody>
      </p:sp>
      <p:sp>
        <p:nvSpPr>
          <p:cNvPr id="9" name="text-180"/>
          <p:cNvSpPr txBox="1"/>
          <p:nvPr/>
        </p:nvSpPr>
        <p:spPr>
          <a:xfrm>
            <a:off x="640080" y="3438144"/>
            <a:ext cx="2011680" cy="640080"/>
          </a:xfrm>
          <a:prstGeom prst="rect">
            <a:avLst/>
          </a:prstGeom>
          <a:noFill/>
          <a:ln/>
        </p:spPr>
        <p:txBody>
          <a:bodyPr wrap="square" lIns="0" tIns="0" rIns="0" bIns="0" rtlCol="0" anchor="t"/>
          <a:lstStyle/>
          <a:p>
            <a:pPr indent="0" marL="0">
              <a:buNone/>
            </a:pPr>
            <a:r>
              <a:rPr lang="en-US" sz="1500" b="1" dirty="0">
                <a:solidFill>
                  <a:schemeClr val="accent5"/>
                </a:solidFill>
                <a:latin typeface="Calibri" pitchFamily="34" charset="0"/>
                <a:ea typeface="Calibri" pitchFamily="34" charset="-122"/>
                <a:cs typeface="Calibri" pitchFamily="34" charset="-120"/>
              </a:rPr>
              <a:t>Key result</a:t>
            </a:r>
            <a:endParaRPr lang="en-US" sz="1500" dirty="0"/>
          </a:p>
        </p:txBody>
      </p:sp>
      <p:sp>
        <p:nvSpPr>
          <p:cNvPr id="10" name="text-181"/>
          <p:cNvSpPr txBox="1"/>
          <p:nvPr/>
        </p:nvSpPr>
        <p:spPr>
          <a:xfrm>
            <a:off x="2697480" y="3438144"/>
            <a:ext cx="4846320" cy="68580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55.0% fewer faults than LRU on 22 real programs; 1.43× on SSD (model)</a:t>
            </a:r>
            <a:endParaRPr lang="en-US" sz="1500" dirty="0"/>
          </a:p>
        </p:txBody>
      </p:sp>
      <p:sp>
        <p:nvSpPr>
          <p:cNvPr id="11" name="text-182"/>
          <p:cNvSpPr txBox="1"/>
          <p:nvPr/>
        </p:nvSpPr>
        <p:spPr>
          <a:xfrm>
            <a:off x="640080" y="4187952"/>
            <a:ext cx="2011680" cy="640080"/>
          </a:xfrm>
          <a:prstGeom prst="rect">
            <a:avLst/>
          </a:prstGeom>
          <a:noFill/>
          <a:ln/>
        </p:spPr>
        <p:txBody>
          <a:bodyPr wrap="square" lIns="0" tIns="0" rIns="0" bIns="0" rtlCol="0" anchor="t"/>
          <a:lstStyle/>
          <a:p>
            <a:pPr indent="0" marL="0">
              <a:buNone/>
            </a:pPr>
            <a:r>
              <a:rPr lang="en-US" sz="1500" b="1" dirty="0">
                <a:solidFill>
                  <a:schemeClr val="accent5"/>
                </a:solidFill>
                <a:latin typeface="Calibri" pitchFamily="34" charset="0"/>
                <a:ea typeface="Calibri" pitchFamily="34" charset="-122"/>
                <a:cs typeface="Calibri" pitchFamily="34" charset="-120"/>
              </a:rPr>
              <a:t>Status</a:t>
            </a:r>
            <a:endParaRPr lang="en-US" sz="1500" dirty="0"/>
          </a:p>
        </p:txBody>
      </p:sp>
      <p:sp>
        <p:nvSpPr>
          <p:cNvPr id="12" name="text-183"/>
          <p:cNvSpPr txBox="1"/>
          <p:nvPr/>
        </p:nvSpPr>
        <p:spPr>
          <a:xfrm>
            <a:off x="2697480" y="4187952"/>
            <a:ext cx="4846320" cy="68580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simulator, final system and evaluation complete; hardware validation is future work</a:t>
            </a:r>
            <a:endParaRPr lang="en-US" sz="1500" dirty="0"/>
          </a:p>
        </p:txBody>
      </p:sp>
      <p:sp>
        <p:nvSpPr>
          <p:cNvPr id="13" name="text-184"/>
          <p:cNvSpPr txBox="1"/>
          <p:nvPr/>
        </p:nvSpPr>
        <p:spPr>
          <a:xfrm>
            <a:off x="8138160" y="2103120"/>
            <a:ext cx="3566160" cy="822960"/>
          </a:xfrm>
          <a:prstGeom prst="rect">
            <a:avLst/>
          </a:prstGeom>
          <a:noFill/>
          <a:ln/>
        </p:spPr>
        <p:txBody>
          <a:bodyPr wrap="square" lIns="0" tIns="0" rIns="0" bIns="0" rtlCol="0" anchor="t"/>
          <a:lstStyle/>
          <a:p>
            <a:pPr algn="r" indent="0" marL="0">
              <a:buNone/>
            </a:pPr>
            <a:r>
              <a:rPr lang="en-US" sz="4000" b="1" dirty="0">
                <a:solidFill>
                  <a:schemeClr val="bg1"/>
                </a:solidFill>
                <a:latin typeface="Cambria" pitchFamily="34" charset="0"/>
                <a:ea typeface="Cambria" pitchFamily="34" charset="-122"/>
                <a:cs typeface="Cambria" pitchFamily="34" charset="-120"/>
              </a:rPr>
              <a:t>Thank You</a:t>
            </a:r>
            <a:endParaRPr lang="en-US" sz="4000" dirty="0"/>
          </a:p>
        </p:txBody>
      </p:sp>
      <p:sp>
        <p:nvSpPr>
          <p:cNvPr id="14" name="text-185"/>
          <p:cNvSpPr txBox="1"/>
          <p:nvPr/>
        </p:nvSpPr>
        <p:spPr>
          <a:xfrm>
            <a:off x="8138160" y="2926080"/>
            <a:ext cx="3566160" cy="548640"/>
          </a:xfrm>
          <a:prstGeom prst="rect">
            <a:avLst/>
          </a:prstGeom>
          <a:noFill/>
          <a:ln/>
        </p:spPr>
        <p:txBody>
          <a:bodyPr wrap="square" lIns="0" tIns="0" rIns="0" bIns="0" rtlCol="0" anchor="t"/>
          <a:lstStyle/>
          <a:p>
            <a:pPr algn="r" indent="0" marL="0">
              <a:buNone/>
            </a:pPr>
            <a:r>
              <a:rPr lang="en-US" sz="2200" dirty="0">
                <a:solidFill>
                  <a:schemeClr val="accent5"/>
                </a:solidFill>
                <a:latin typeface="Calibri" pitchFamily="34" charset="0"/>
                <a:ea typeface="Calibri" pitchFamily="34" charset="-122"/>
                <a:cs typeface="Calibri" pitchFamily="34" charset="-120"/>
              </a:rPr>
              <a:t>Questions &amp; Answers</a:t>
            </a:r>
            <a:endParaRPr lang="en-US" sz="2200" dirty="0"/>
          </a:p>
        </p:txBody>
      </p:sp>
      <p:sp>
        <p:nvSpPr>
          <p:cNvPr id="15" name="text-186"/>
          <p:cNvSpPr txBox="1"/>
          <p:nvPr/>
        </p:nvSpPr>
        <p:spPr>
          <a:xfrm>
            <a:off x="6766560" y="5989320"/>
            <a:ext cx="4937760" cy="320040"/>
          </a:xfrm>
          <a:prstGeom prst="rect">
            <a:avLst/>
          </a:prstGeom>
          <a:noFill/>
          <a:ln/>
        </p:spPr>
        <p:txBody>
          <a:bodyPr wrap="square" lIns="0" tIns="0" rIns="0" bIns="0" rtlCol="0" anchor="t"/>
          <a:lstStyle/>
          <a:p>
            <a:pPr algn="r" indent="0" marL="0">
              <a:buNone/>
            </a:pPr>
            <a:r>
              <a:rPr lang="en-US" sz="1100" dirty="0">
                <a:solidFill>
                  <a:schemeClr val="accent3"/>
                </a:solidFill>
                <a:latin typeface="Calibri" pitchFamily="34" charset="0"/>
                <a:ea typeface="Calibri" pitchFamily="34" charset="-122"/>
                <a:cs typeface="Calibri" pitchFamily="34" charset="-120"/>
              </a:rPr>
              <a:t>github.com/shrey1-1/Predictive-memory-paging-system-</a:t>
            </a:r>
            <a:endParaRPr lang="en-US" sz="1100" dirty="0"/>
          </a:p>
        </p:txBody>
      </p:sp>
      <p:sp>
        <p:nvSpPr>
          <p:cNvPr id="17" name="Text 0"/>
          <p:cNvSpPr/>
          <p:nvPr>
            <p:ph idx="100" type="title" hasCustomPrompt="1"/>
          </p:nvPr>
        </p:nvSpPr>
        <p:spPr>
          <a:xfrm>
            <a:off x="640080" y="1417320"/>
            <a:ext cx="6949440" cy="1828800"/>
          </a:xfrm>
          <a:prstGeom prst="rect">
            <a:avLst/>
          </a:prstGeom>
          <a:noFill/>
          <a:ln/>
        </p:spPr>
        <p:txBody>
          <a:bodyPr wrap="square" lIns="0" tIns="0" rIns="0" bIns="0" rtlCol="0" anchor="t"/>
          <a:lstStyle/>
          <a:p>
            <a:pPr algn="l" indent="0" marL="0">
              <a:buNone/>
            </a:pPr>
            <a:endParaRPr lang="en-US" sz="4000" dirty="0"/>
          </a:p>
        </p:txBody>
      </p:sp>
    </p:spTree>
  </p:cSld>
  <p:clrMapOvr>
    <a:masterClrMapping/>
  </p:clrMapOvr>
</p:sld>
</file>

<file path=ppt/theme/theme1.xml><?xml version="1.0" encoding="utf-8"?>
<a:theme xmlns:a="http://schemas.openxmlformats.org/drawingml/2006/main" name="Paging Amber">
  <a:themeElements>
    <a:clrScheme name="Paging Amber">
      <a:dk1>
        <a:srgbClr val="1F1D1A"/>
      </a:dk1>
      <a:lt1>
        <a:srgbClr val="FFFFFF"/>
      </a:lt1>
      <a:dk2>
        <a:srgbClr val="3B3834"/>
      </a:dk2>
      <a:lt2>
        <a:srgbClr val="F3F1ED"/>
      </a:lt2>
      <a:accent1>
        <a:srgbClr val="C2700A"/>
      </a:accent1>
      <a:accent2>
        <a:srgbClr val="6B665E"/>
      </a:accent2>
      <a:accent3>
        <a:srgbClr val="9A958C"/>
      </a:accent3>
      <a:accent4>
        <a:srgbClr val="D6D2CA"/>
      </a:accent4>
      <a:accent5>
        <a:srgbClr val="E3922F"/>
      </a:accent5>
      <a:accent6>
        <a:srgbClr val="4A463F"/>
      </a:accent6>
      <a:hlink>
        <a:srgbClr val="C2700A"/>
      </a:hlink>
      <a:folHlink>
        <a:srgbClr val="6B665E"/>
      </a:folHlink>
    </a:clrScheme>
    <a:fontScheme name="Paging A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Memory Paging System with Workload Awareness: Final Review</dc:title>
  <dc:subject>PptxGenJS Presentation</dc:subject>
  <dc:creator>G.K Shreyas Bharadwaj, Vaastav Bajanthri, P. Giphy Bershan</dc:creator>
  <cp:lastModifiedBy>G.K Shreyas Bharadwaj, Vaastav Bajanthri, P. Giphy Bershan</cp:lastModifiedBy>
  <cp:revision>1</cp:revision>
  <dcterms:created xsi:type="dcterms:W3CDTF">2026-10-20T01:37:09Z</dcterms:created>
  <dcterms:modified xsi:type="dcterms:W3CDTF">2026-10-20T01:37:09Z</dcterms:modified>
</cp:coreProperties>
</file>